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am patel" userId="dbacb2f56bb490de" providerId="LiveId" clId="{73AEF93E-64D0-4766-9B1F-E9B2D895720D}"/>
    <pc:docChg chg="custSel modSld">
      <pc:chgData name="saksham patel" userId="dbacb2f56bb490de" providerId="LiveId" clId="{73AEF93E-64D0-4766-9B1F-E9B2D895720D}" dt="2026-09-14T09:18:38.140" v="153" actId="20577"/>
      <pc:docMkLst>
        <pc:docMk/>
      </pc:docMkLst>
      <pc:sldChg chg="modSp mod">
        <pc:chgData name="saksham patel" userId="dbacb2f56bb490de" providerId="LiveId" clId="{73AEF93E-64D0-4766-9B1F-E9B2D895720D}" dt="2026-09-14T09:14:59.881" v="96" actId="20577"/>
        <pc:sldMkLst>
          <pc:docMk/>
          <pc:sldMk cId="64330464" sldId="256"/>
        </pc:sldMkLst>
        <pc:spChg chg="mod">
          <ac:chgData name="saksham patel" userId="dbacb2f56bb490de" providerId="LiveId" clId="{73AEF93E-64D0-4766-9B1F-E9B2D895720D}" dt="2026-09-14T09:14:59.881" v="96" actId="20577"/>
          <ac:spMkLst>
            <pc:docMk/>
            <pc:sldMk cId="64330464" sldId="256"/>
            <ac:spMk id="5" creationId="{79348476-63CE-490A-8577-CDE90A078166}"/>
          </ac:spMkLst>
        </pc:spChg>
      </pc:sldChg>
      <pc:sldChg chg="delSp modSp mod">
        <pc:chgData name="saksham patel" userId="dbacb2f56bb490de" providerId="LiveId" clId="{73AEF93E-64D0-4766-9B1F-E9B2D895720D}" dt="2026-09-14T09:18:38.140" v="153" actId="20577"/>
        <pc:sldMkLst>
          <pc:docMk/>
          <pc:sldMk cId="2085298535" sldId="257"/>
        </pc:sldMkLst>
        <pc:spChg chg="mod">
          <ac:chgData name="saksham patel" userId="dbacb2f56bb490de" providerId="LiveId" clId="{73AEF93E-64D0-4766-9B1F-E9B2D895720D}" dt="2026-09-14T09:17:36.013" v="117" actId="14100"/>
          <ac:spMkLst>
            <pc:docMk/>
            <pc:sldMk cId="2085298535" sldId="257"/>
            <ac:spMk id="5" creationId="{8C394168-4EAC-4209-92FC-BB229593EDCF}"/>
          </ac:spMkLst>
        </pc:spChg>
        <pc:spChg chg="mod">
          <ac:chgData name="saksham patel" userId="dbacb2f56bb490de" providerId="LiveId" clId="{73AEF93E-64D0-4766-9B1F-E9B2D895720D}" dt="2026-09-14T09:17:54.756" v="125" actId="20577"/>
          <ac:spMkLst>
            <pc:docMk/>
            <pc:sldMk cId="2085298535" sldId="257"/>
            <ac:spMk id="6" creationId="{7E84A887-8E12-4337-A8B9-2EFA6AC23AFC}"/>
          </ac:spMkLst>
        </pc:spChg>
        <pc:spChg chg="mod">
          <ac:chgData name="saksham patel" userId="dbacb2f56bb490de" providerId="LiveId" clId="{73AEF93E-64D0-4766-9B1F-E9B2D895720D}" dt="2026-09-14T09:18:03.302" v="132" actId="20577"/>
          <ac:spMkLst>
            <pc:docMk/>
            <pc:sldMk cId="2085298535" sldId="257"/>
            <ac:spMk id="7" creationId="{9AD9D268-904E-4CEC-A91B-04C4B961212A}"/>
          </ac:spMkLst>
        </pc:spChg>
        <pc:spChg chg="mod">
          <ac:chgData name="saksham patel" userId="dbacb2f56bb490de" providerId="LiveId" clId="{73AEF93E-64D0-4766-9B1F-E9B2D895720D}" dt="2026-09-14T09:18:38.140" v="153" actId="20577"/>
          <ac:spMkLst>
            <pc:docMk/>
            <pc:sldMk cId="2085298535" sldId="257"/>
            <ac:spMk id="8" creationId="{017A3DF6-0106-4D12-9B1F-6E10367205C9}"/>
          </ac:spMkLst>
        </pc:spChg>
        <pc:spChg chg="mod">
          <ac:chgData name="saksham patel" userId="dbacb2f56bb490de" providerId="LiveId" clId="{73AEF93E-64D0-4766-9B1F-E9B2D895720D}" dt="2026-09-14T09:18:10.234" v="137" actId="20577"/>
          <ac:spMkLst>
            <pc:docMk/>
            <pc:sldMk cId="2085298535" sldId="257"/>
            <ac:spMk id="9" creationId="{EA4E4526-6DC8-4051-8F4F-AF1DF0F0CFA3}"/>
          </ac:spMkLst>
        </pc:spChg>
        <pc:spChg chg="del">
          <ac:chgData name="saksham patel" userId="dbacb2f56bb490de" providerId="LiveId" clId="{73AEF93E-64D0-4766-9B1F-E9B2D895720D}" dt="2026-09-14T09:15:06.484" v="97" actId="478"/>
          <ac:spMkLst>
            <pc:docMk/>
            <pc:sldMk cId="2085298535" sldId="257"/>
            <ac:spMk id="10" creationId="{500A316C-FB6D-456C-A800-CA4B46C885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README.md and aidex/settings.py identify AIDEX and the project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names came from README.md. No enrollment numbers were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README.md, dashboard/views.py, cases/views.py, evidence/views.py, ai_engine/models.py, reports/models.py.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Supported by evidence/models.py, evidence/encrypted_storage.py, cases/forms.py, reports/services.py and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reflect implemented modules in accounts, dashboard, cases, evidence, ai_engine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Comparison is derived from implemented workflows and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requirements.txt, README.md, aidex/settings.py, ai_engine/providers.py, ai_engine/ocr.py, evidence/encrypted_storage.py.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from aidex/urls.py, settings.py, module views/forms/models and protected media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app directories, urls.py files, models.py, forms.py and views.py.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status: implemented or partially implemented only. QR functionality was not found and is not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relationships verified from accounts/models.py, cases/models.py, evidence/models.py, ai_engine/models.py and reports/models.py.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Detailed ER summary cross-checked against Django models and migrations. Important many-to-many links: Report.included_evidence and Report.included_analyses.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verified from accounts/urls.py, dashboard/urls.py, cases/urls.py, evidence/urls.py, ai_engine/urls.py and reports/urls.py.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captured from /accounts/login/ and /dashboard/admin/.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captured from case and evidence module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captured from reports/list and report detail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functionality verified from ai_engine/models.py, forms.py, services.py, providers.py, ocr.py, urls.py and tests.py. Screenshot captured from AI analysis detail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 command executed: python manage.py test. Result: Ran 79 tests in 83.575s,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are based on README production notes and explicit placeholder implementation in ai_engine/ocr.py.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 with project and team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BB02C3-E393-418C-9D28-3DDF7A02FABE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4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20EBEC-7511-45C9-BC2E-F9E9525BD82D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8096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AI Digital Evidence Intelligence &amp; Investigation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639CAB-88F9-45C0-8675-5A8034E12B92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Minor Project / Academic Project</a:t>
            </a:r>
          </a:p>
          <a:p>
            <a:pPr algn="l">
              <a:defRPr sz="18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Diploma Computer Engineering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712155-C25B-4541-A164-FD9D376AADCE}"/>
              </a:ext>
            </a:extLst>
          </p:cNvPr>
          <p:cNvSpPr>
            <a:spLocks noGrp="1"/>
          </p:cNvSpPr>
          <p:nvPr/>
        </p:nvSpPr>
        <p:spPr>
          <a:xfrm>
            <a:off x="7905750" y="1333500"/>
            <a:ext cx="3048000" cy="2667000"/>
          </a:xfrm>
          <a:prstGeom prst="roundRect">
            <a:avLst>
              <a:gd name="adj" fmla="val 2857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Cyber-crime cases</a:t>
            </a:r>
          </a:p>
          <a:p>
            <a:pPr algn="ctr">
              <a:defRPr sz="21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Digital evidence</a:t>
            </a:r>
          </a:p>
          <a:p>
            <a:pPr algn="ctr">
              <a:defRPr sz="21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AI-assisted 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348476-63CE-490A-8577-CDE90A078166}"/>
              </a:ext>
            </a:extLst>
          </p:cNvPr>
          <p:cNvSpPr>
            <a:spLocks noGrp="1"/>
          </p:cNvSpPr>
          <p:nvPr/>
        </p:nvSpPr>
        <p:spPr>
          <a:xfrm>
            <a:off x="742950" y="56388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389" lnSpcReduction="10000"/>
          </a:bodyPr>
          <a:lstStyle/>
          <a:p>
            <a:pPr algn="l">
              <a:defRPr sz="135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A6575"/>
                </a:solidFill>
                <a:latin typeface="Aptos"/>
                <a:ea typeface="Aptos"/>
                <a:cs typeface="Aptos"/>
              </a:rPr>
              <a:t>Institute: </a:t>
            </a:r>
            <a:r>
              <a:rPr lang="en-US" sz="1350" dirty="0" err="1">
                <a:solidFill>
                  <a:srgbClr val="5A6575"/>
                </a:solidFill>
                <a:latin typeface="Aptos"/>
                <a:ea typeface="Aptos"/>
                <a:cs typeface="Aptos"/>
              </a:rPr>
              <a:t>Neotech</a:t>
            </a:r>
            <a:r>
              <a:rPr lang="en-US" sz="1350" dirty="0">
                <a:solidFill>
                  <a:srgbClr val="5A6575"/>
                </a:solidFill>
                <a:latin typeface="Aptos"/>
                <a:ea typeface="Aptos"/>
                <a:cs typeface="Aptos"/>
              </a:rPr>
              <a:t> Faculty of Diploma Engineering</a:t>
            </a:r>
            <a:endParaRPr sz="1350" b="0" dirty="0">
              <a:solidFill>
                <a:srgbClr val="5A6575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A6575"/>
                </a:solidFill>
                <a:latin typeface="Aptos"/>
                <a:ea typeface="Aptos"/>
                <a:cs typeface="Aptos"/>
              </a:rPr>
              <a:t>Academic Year: </a:t>
            </a:r>
            <a:r>
              <a:rPr lang="en-US" sz="1350" dirty="0">
                <a:solidFill>
                  <a:srgbClr val="5A6575"/>
                </a:solidFill>
                <a:latin typeface="Aptos"/>
                <a:ea typeface="Aptos"/>
                <a:cs typeface="Aptos"/>
              </a:rPr>
              <a:t>2026-2027</a:t>
            </a:r>
            <a:endParaRPr sz="1350" b="0" dirty="0">
              <a:solidFill>
                <a:srgbClr val="5A6575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433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30076B-3BFD-4141-87DC-37F320FDDE4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A95D8BE-6155-443B-A989-12A6360E417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314F4B-6FCE-4112-A2D9-7A76576AA16B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2C72E1-7B6A-43D4-983D-F9FF063E92BC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394168-4EAC-4209-92FC-BB229593EDCF}"/>
              </a:ext>
            </a:extLst>
          </p:cNvPr>
          <p:cNvSpPr>
            <a:spLocks noGrp="1"/>
          </p:cNvSpPr>
          <p:nvPr/>
        </p:nvSpPr>
        <p:spPr>
          <a:xfrm>
            <a:off x="1219201" y="1437968"/>
            <a:ext cx="2746579" cy="1614947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Saksham Patel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84A887-8E12-4337-A8B9-2EFA6AC23AFC}"/>
              </a:ext>
            </a:extLst>
          </p:cNvPr>
          <p:cNvSpPr>
            <a:spLocks noGrp="1"/>
          </p:cNvSpPr>
          <p:nvPr/>
        </p:nvSpPr>
        <p:spPr>
          <a:xfrm>
            <a:off x="4895850" y="1437968"/>
            <a:ext cx="2746580" cy="1614947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8212F"/>
                </a:solidFill>
                <a:latin typeface="Aptos"/>
                <a:ea typeface="Aptos"/>
                <a:cs typeface="Aptos"/>
              </a:rPr>
              <a:t>Harsh</a:t>
            </a:r>
            <a:r>
              <a:rPr lang="en-US" sz="1875" b="1" dirty="0">
                <a:solidFill>
                  <a:srgbClr val="18212F"/>
                </a:solidFill>
                <a:latin typeface="Aptos"/>
                <a:ea typeface="Aptos"/>
                <a:cs typeface="Aptos"/>
              </a:rPr>
              <a:t> Parmar</a:t>
            </a:r>
            <a:endParaRPr sz="1875" b="1" dirty="0">
              <a:solidFill>
                <a:srgbClr val="18212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D9D268-904E-4CEC-A91B-04C4B961212A}"/>
              </a:ext>
            </a:extLst>
          </p:cNvPr>
          <p:cNvSpPr>
            <a:spLocks noGrp="1"/>
          </p:cNvSpPr>
          <p:nvPr/>
        </p:nvSpPr>
        <p:spPr>
          <a:xfrm>
            <a:off x="8372476" y="1437968"/>
            <a:ext cx="2746580" cy="1560562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Shrushti</a:t>
            </a:r>
            <a:r>
              <a:rPr lang="en-US" sz="1875" b="1" dirty="0">
                <a:solidFill>
                  <a:srgbClr val="18212F"/>
                </a:solidFill>
                <a:latin typeface="Aptos"/>
                <a:ea typeface="Aptos"/>
                <a:cs typeface="Aptos"/>
              </a:rPr>
              <a:t> Suthar</a:t>
            </a:r>
            <a:endParaRPr sz="1875" b="1" dirty="0">
              <a:solidFill>
                <a:srgbClr val="18212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7A3DF6-0106-4D12-9B1F-6E10367205C9}"/>
              </a:ext>
            </a:extLst>
          </p:cNvPr>
          <p:cNvSpPr>
            <a:spLocks noGrp="1"/>
          </p:cNvSpPr>
          <p:nvPr/>
        </p:nvSpPr>
        <p:spPr>
          <a:xfrm>
            <a:off x="1111046" y="4168877"/>
            <a:ext cx="2746580" cy="1614947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Amisha</a:t>
            </a:r>
            <a:r>
              <a:rPr lang="en-US" sz="18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 Agarwal</a:t>
            </a:r>
            <a:endParaRPr sz="1875" b="1" dirty="0">
              <a:solidFill>
                <a:srgbClr val="18212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4E4526-6DC8-4051-8F4F-AF1DF0F0CFA3}"/>
              </a:ext>
            </a:extLst>
          </p:cNvPr>
          <p:cNvSpPr>
            <a:spLocks noGrp="1"/>
          </p:cNvSpPr>
          <p:nvPr/>
        </p:nvSpPr>
        <p:spPr>
          <a:xfrm>
            <a:off x="4895850" y="4168877"/>
            <a:ext cx="2746580" cy="1614947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8212F"/>
                </a:solidFill>
                <a:latin typeface="Aptos"/>
                <a:ea typeface="Aptos"/>
                <a:cs typeface="Aptos"/>
              </a:rPr>
              <a:t>Viral</a:t>
            </a:r>
            <a:r>
              <a:rPr lang="en-US" sz="1875" b="1" dirty="0">
                <a:solidFill>
                  <a:srgbClr val="18212F"/>
                </a:solidFill>
                <a:latin typeface="Aptos"/>
                <a:ea typeface="Aptos"/>
                <a:cs typeface="Aptos"/>
              </a:rPr>
              <a:t> Mali</a:t>
            </a:r>
            <a:endParaRPr sz="1875" b="1" dirty="0">
              <a:solidFill>
                <a:srgbClr val="18212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85298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7372D2-B5D9-455F-8F3B-8992066C7DB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44807C4-3969-460A-BADD-84DEF6A33A3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9CC1D-AF46-44A1-8671-9C4FC40A0294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A54DB-9ED3-4B96-9C0D-3FEDAD6AA915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84B0C3-D56C-4780-AD24-BE12F4F47BE1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9906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0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AIDEX supports cyber-crime investigation work by linking cases, uploaded digital evidence, AI-assisted analysis and investigation reports in one role-aware Django application.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2CB1C5-10B6-4570-AA03-F98D610237AD}"/>
              </a:ext>
            </a:extLst>
          </p:cNvPr>
          <p:cNvSpPr>
            <a:spLocks noGrp="1"/>
          </p:cNvSpPr>
          <p:nvPr/>
        </p:nvSpPr>
        <p:spPr>
          <a:xfrm>
            <a:off x="1143000" y="27241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Administrators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378D00-9F15-49E0-BC07-06D2E8069400}"/>
              </a:ext>
            </a:extLst>
          </p:cNvPr>
          <p:cNvSpPr>
            <a:spLocks noGrp="1"/>
          </p:cNvSpPr>
          <p:nvPr/>
        </p:nvSpPr>
        <p:spPr>
          <a:xfrm>
            <a:off x="4857750" y="27241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Investigators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C3EAD8-C8B0-48AA-9E90-111CF47085F8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FFF6E6"/>
          </a:solidFill>
          <a:ln w="11430">
            <a:solidFill>
              <a:srgbClr val="B7791F"/>
            </a:solidFill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Cyber Officers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2E4D17-4AEF-4BDD-8BD0-4B22CA8ED10E}"/>
              </a:ext>
            </a:extLst>
          </p:cNvPr>
          <p:cNvSpPr>
            <a:spLocks noGrp="1"/>
          </p:cNvSpPr>
          <p:nvPr/>
        </p:nvSpPr>
        <p:spPr>
          <a:xfrm>
            <a:off x="1190625" y="4333875"/>
            <a:ext cx="933450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Manage cyber-crime cases and assignments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Upload and verify digital evidence records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Run explicit AI analysis and review generated findings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Create investigation reports with approval and publication flow</a:t>
            </a:r>
          </a:p>
        </p:txBody>
      </p:sp>
    </p:spTree>
    <p:extLst>
      <p:ext uri="{BB962C8B-B14F-4D97-AF65-F5344CB8AC3E}">
        <p14:creationId xmlns:p14="http://schemas.microsoft.com/office/powerpoint/2010/main" val="18415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BACF40-4F7C-47FF-B2C5-B4C7989E9DC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C9EB626-D19E-435F-81AC-FDA24657BF7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A14FE-EFFD-4204-BAF9-459935B66006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B8585C-5486-4BA7-B8B4-50577B551C86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925356-8E4B-421E-9F8A-0823F25F4653}"/>
              </a:ext>
            </a:extLst>
          </p:cNvPr>
          <p:cNvSpPr>
            <a:spLocks noGrp="1"/>
          </p:cNvSpPr>
          <p:nvPr/>
        </p:nvSpPr>
        <p:spPr>
          <a:xfrm>
            <a:off x="933450" y="1314450"/>
            <a:ext cx="103251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Manual or scattered investigation records make it difficult to preserve evidence integrity, role accountability and report traceability during cyber-crime case handling.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912E8-174F-43B1-9704-B6F1D8D23850}"/>
              </a:ext>
            </a:extLst>
          </p:cNvPr>
          <p:cNvSpPr>
            <a:spLocks noGrp="1"/>
          </p:cNvSpPr>
          <p:nvPr/>
        </p:nvSpPr>
        <p:spPr>
          <a:xfrm>
            <a:off x="1619250" y="3143250"/>
            <a:ext cx="8572500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Evidence files need reliable metadata and SHA-256 fingerprints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Sensitive evidence must stay protected during preview, download and AI preparation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Case status changes need controlled transitions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Reports need review, approval, publication and audit history</a:t>
            </a:r>
          </a:p>
        </p:txBody>
      </p:sp>
    </p:spTree>
    <p:extLst>
      <p:ext uri="{BB962C8B-B14F-4D97-AF65-F5344CB8AC3E}">
        <p14:creationId xmlns:p14="http://schemas.microsoft.com/office/powerpoint/2010/main" val="17490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237756-B450-4174-A4BB-476818AB51E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C91F805-8C9F-4854-96CD-7885E019E39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37EB61-3133-46EC-A12A-6C5B92A5AE35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A58E2-618F-4BC5-8E13-51932A8E1131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F077C-AF4E-4669-8BEE-2319CC9854D9}"/>
              </a:ext>
            </a:extLst>
          </p:cNvPr>
          <p:cNvSpPr>
            <a:spLocks noGrp="1"/>
          </p:cNvSpPr>
          <p:nvPr/>
        </p:nvSpPr>
        <p:spPr>
          <a:xfrm>
            <a:off x="1285875" y="1381125"/>
            <a:ext cx="9525000" cy="3619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Provide role-based access for administrators, investigators and cyber officers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Track cases from creation through assignment, investigation and closure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Store evidence with validation, encryption and SHA-256 integrity checks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Support explicit AI-assisted analysis with caching, retries and audit logs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Generate investigation reports with review, approval and publication controls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Show role-specific dashboards and searchable registers</a:t>
            </a:r>
          </a:p>
        </p:txBody>
      </p:sp>
    </p:spTree>
    <p:extLst>
      <p:ext uri="{BB962C8B-B14F-4D97-AF65-F5344CB8AC3E}">
        <p14:creationId xmlns:p14="http://schemas.microsoft.com/office/powerpoint/2010/main" val="90090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350869-6199-4D3B-839E-0E784BF4366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Existing vs Proposed System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808BB6D-21F8-4DF6-9E4D-8C28BC68E6B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840BD-489F-411A-B347-DD74EAA687B4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A2FED9-884B-4DA9-89B4-3A53863D3043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742950" y="1285875"/>
          <a:ext cx="10668000" cy="3714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Existing / Manual Approach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AIDEX Proposed System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Case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Separate notes or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Central case records with status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Evidence integrity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Manual filename and storage checks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SHA-256 fingerprints, validation and encrypted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Hard to separate responsibilities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Administrator, Investigator and Cyber Officer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Manual review without reuse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Explicit AI analysis records with cache and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Document drafts without system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Report lifecycle with audit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54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9EA978-5A0D-4C3C-A43E-3ACC3526EFE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4E1C12B-EE23-446B-A889-B7871C2A2E5F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BE0FE1-F621-40EC-BAA8-8A078FD7FB27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7B2E2-BB2A-4938-B1C0-95076C2C4D33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914400" y="1381125"/>
          <a:ext cx="10287000" cy="36385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Layer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Technologies detected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Django 6, Python 3.12+, Gunicorn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HTML templates, CSS, JavaScript, Bootstrap Icons, Chart.js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SQLite for development, MySQL option via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 and extraction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google-genai, OpenRouter-compatible provider, Pillow, pytesseract, OpenCV, pypdf, python-docx, openpyxl, python-pptx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Security utilities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cryptography for AES-256-GCM evidence storage, SHA-256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18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FDFF497-1F59-4DEC-B677-65DEBEE8750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14B93E1-F3BA-4363-9690-68EAE757720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00CF37-505D-47CA-BB07-FED7EF05DC39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5F5378-79E9-4D6A-ADD8-41B00CC6EE5B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A8C929-A1EA-4387-BA4E-33E59E2976EE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Browser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HTML, CSS, JS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0E1300-42F2-4380-A1BB-ED651CC7DBD9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20002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Django URLs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Views and Forms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D473D2-5B52-4B71-B762-BE7CD93A43C1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Application Modules</a:t>
            </a:r>
          </a:p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Accounts, Cases, Evidence, AI, Reports, Dashboard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23411A-AD6C-4917-AE76-9A5FC57C2A9D}"/>
              </a:ext>
            </a:extLst>
          </p:cNvPr>
          <p:cNvSpPr>
            <a:spLocks noGrp="1"/>
          </p:cNvSpPr>
          <p:nvPr/>
        </p:nvSpPr>
        <p:spPr>
          <a:xfrm>
            <a:off x="9810750" y="180975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FFF6E6"/>
          </a:solidFill>
          <a:ln w="11430">
            <a:solidFill>
              <a:srgbClr val="B7791F"/>
            </a:solidFill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SQLite / MySQL</a:t>
            </a:r>
          </a:p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Django Models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88FEC8-8236-4903-ABFD-759C40580B2E}"/>
              </a:ext>
            </a:extLst>
          </p:cNvPr>
          <p:cNvSpPr>
            <a:spLocks noGrp="1"/>
          </p:cNvSpPr>
          <p:nvPr/>
        </p:nvSpPr>
        <p:spPr>
          <a:xfrm>
            <a:off x="2809875" y="3905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Protected Media</a:t>
            </a:r>
          </a:p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Encrypted evidence files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5BDA84-DA84-4E4A-88C7-C641D7B6D595}"/>
              </a:ext>
            </a:extLst>
          </p:cNvPr>
          <p:cNvSpPr>
            <a:spLocks noGrp="1"/>
          </p:cNvSpPr>
          <p:nvPr/>
        </p:nvSpPr>
        <p:spPr>
          <a:xfrm>
            <a:off x="6858000" y="39052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External AI Provider</a:t>
            </a:r>
          </a:p>
          <a:p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Gemini or OpenRouter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AE9CBF3-9B2B-435F-84A2-C2BC2383B259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76200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1E3C0B3-297E-4B13-94FE-4F89735B159E}"/>
              </a:ext>
            </a:extLst>
          </p:cNvPr>
          <p:cNvSpPr>
            <a:spLocks noGrp="1"/>
          </p:cNvSpPr>
          <p:nvPr/>
        </p:nvSpPr>
        <p:spPr>
          <a:xfrm>
            <a:off x="5429250" y="2190750"/>
            <a:ext cx="76200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DFF54AE-F4D7-489C-AEB4-5157346DFDD0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66675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19EF69A-52F1-4213-B022-15D974F45D71}"/>
              </a:ext>
            </a:extLst>
          </p:cNvPr>
          <p:cNvSpPr>
            <a:spLocks noGrp="1"/>
          </p:cNvSpPr>
          <p:nvPr/>
        </p:nvSpPr>
        <p:spPr>
          <a:xfrm>
            <a:off x="5143500" y="4286250"/>
            <a:ext cx="171450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3CF6F1C-5EF0-4DE8-90EB-EE89FE42E87E}"/>
              </a:ext>
            </a:extLst>
          </p:cNvPr>
          <p:cNvSpPr>
            <a:spLocks noGrp="1"/>
          </p:cNvSpPr>
          <p:nvPr/>
        </p:nvSpPr>
        <p:spPr>
          <a:xfrm>
            <a:off x="7667625" y="2781300"/>
            <a:ext cx="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</p:spTree>
    <p:extLst>
      <p:ext uri="{BB962C8B-B14F-4D97-AF65-F5344CB8AC3E}">
        <p14:creationId xmlns:p14="http://schemas.microsoft.com/office/powerpoint/2010/main" val="347896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6D858C-8DDB-46F2-9C44-5806B3210B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Modules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6E0B09E-7079-4D2E-A200-33EF3361BF6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056B1D-3140-432B-A948-4F73C3347233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A7BFD-DBD6-4E54-A313-D4CC74AD3B1C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819150" y="1257300"/>
          <a:ext cx="10553700" cy="4095749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Actual responsibility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Custom user model, registration, login, password reset,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Role dashboards with chart-ready case, evidence and report 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Case creation, assignment, status update, archive and 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Upload, validation, encrypted storage, verification and download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Evidence analysis, OCR/extraction, provider execution, review and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Draft, review, approve, reject, publish, archive, restore and revise 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9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CF897A-F445-4397-AEED-2D4C9BC3C7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6E918A8-AAA7-435C-BDCF-DC776E06AEC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65F8E-00BD-4E8F-8ACC-17CF64ECACA1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6FE9E-843D-40B9-8EC5-3337D2DA978E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C5C87C-701B-49B0-9C03-25DBE054BE18}"/>
              </a:ext>
            </a:extLst>
          </p:cNvPr>
          <p:cNvSpPr>
            <a:spLocks noGrp="1"/>
          </p:cNvSpPr>
          <p:nvPr/>
        </p:nvSpPr>
        <p:spPr>
          <a:xfrm>
            <a:off x="904875" y="1200150"/>
            <a:ext cx="1019175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Role-aware access for Administrator, Investigator and Cyber Officer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Case assignment and controlled status transitions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Evidence upload with extension, size and content-signature validation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AES-256-GCM encrypted evidence storage and SHA-256 tamper checks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AI analysis with provider selection, retry handling, caching and human review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Report lifecycle with audit log, integrity hash, PDF publication gate and revisions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Search, filter and pagination for cases, evidence, AI analysis and reports</a:t>
            </a:r>
          </a:p>
        </p:txBody>
      </p:sp>
    </p:spTree>
    <p:extLst>
      <p:ext uri="{BB962C8B-B14F-4D97-AF65-F5344CB8AC3E}">
        <p14:creationId xmlns:p14="http://schemas.microsoft.com/office/powerpoint/2010/main" val="1250251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6FD843-E7E4-48A4-92B0-754D84DAED1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Database / ER Diagram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6333697-F8B0-448F-A7C3-282DBD18EB2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E3D426-6662-44BC-A345-8FCDE788BB8C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8B849-DBB2-45F6-9F4C-4493ABCB1BED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FC42B2-BB61-44A0-9F4F-D2710AA9334D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666875" cy="742950"/>
          </a:xfrm>
          <a:prstGeom prst="roundRect">
            <a:avLst>
              <a:gd name="adj" fmla="val 10256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User</a:t>
            </a:r>
          </a:p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accounts_user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3D546B-2AB7-4177-B001-2375D59FE9B8}"/>
              </a:ext>
            </a:extLst>
          </p:cNvPr>
          <p:cNvSpPr>
            <a:spLocks noGrp="1"/>
          </p:cNvSpPr>
          <p:nvPr/>
        </p:nvSpPr>
        <p:spPr>
          <a:xfrm>
            <a:off x="3143250" y="1809750"/>
            <a:ext cx="166687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Case</a:t>
            </a:r>
          </a:p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aidex_cases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FB0991-0530-4B91-AD97-2A37CF450394}"/>
              </a:ext>
            </a:extLst>
          </p:cNvPr>
          <p:cNvSpPr>
            <a:spLocks noGrp="1"/>
          </p:cNvSpPr>
          <p:nvPr/>
        </p:nvSpPr>
        <p:spPr>
          <a:xfrm>
            <a:off x="5524500" y="1809750"/>
            <a:ext cx="1762125" cy="742950"/>
          </a:xfrm>
          <a:prstGeom prst="roundRect">
            <a:avLst>
              <a:gd name="adj" fmla="val 10256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Evidence</a:t>
            </a:r>
          </a:p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aidex_evidence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A770CE-1010-4E88-9C80-124BE50302E6}"/>
              </a:ext>
            </a:extLst>
          </p:cNvPr>
          <p:cNvSpPr>
            <a:spLocks noGrp="1"/>
          </p:cNvSpPr>
          <p:nvPr/>
        </p:nvSpPr>
        <p:spPr>
          <a:xfrm>
            <a:off x="8001000" y="1809750"/>
            <a:ext cx="2000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AIAnalysis</a:t>
            </a:r>
          </a:p>
          <a:p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aidex_ai_analysis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566759-19D1-407E-8C10-E0420E2AF910}"/>
              </a:ext>
            </a:extLst>
          </p:cNvPr>
          <p:cNvSpPr>
            <a:spLocks noGrp="1"/>
          </p:cNvSpPr>
          <p:nvPr/>
        </p:nvSpPr>
        <p:spPr>
          <a:xfrm>
            <a:off x="8001000" y="3190875"/>
            <a:ext cx="2000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AIAnalysisLog</a:t>
            </a:r>
          </a:p>
          <a:p>
            <a:pPr algn="ctr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aidex_ai_analysis_logs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B6AC97-9D6D-4745-AA03-65A4609764EB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2333625" cy="742950"/>
          </a:xfrm>
          <a:prstGeom prst="roundRect">
            <a:avLst>
              <a:gd name="adj" fmla="val 10256"/>
            </a:avLst>
          </a:prstGeom>
          <a:solidFill>
            <a:srgbClr val="FFF6E6"/>
          </a:solidFill>
          <a:ln w="11430">
            <a:solidFill>
              <a:srgbClr val="B7791F"/>
            </a:solidFill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Report</a:t>
            </a:r>
          </a:p>
          <a:p>
            <a:pPr algn="ctr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aidex_investigation_reports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B5F2D8-7623-4059-B135-236575A5F7FB}"/>
              </a:ext>
            </a:extLst>
          </p:cNvPr>
          <p:cNvSpPr>
            <a:spLocks noGrp="1"/>
          </p:cNvSpPr>
          <p:nvPr/>
        </p:nvSpPr>
        <p:spPr>
          <a:xfrm>
            <a:off x="6143625" y="3905250"/>
            <a:ext cx="233362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ReportAuditLog</a:t>
            </a:r>
          </a:p>
          <a:p>
            <a:pPr algn="ctr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aidex_report_audit_logs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679AA4-5A96-41EC-84D6-1844D1E0BFE9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9906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922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User creates and is assigned to cases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Case owns evidence and reports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Evidence owns AI analyses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Reports reference evidence and reviewed AI analyses</a:t>
            </a:r>
          </a:p>
        </p:txBody>
      </p:sp>
    </p:spTree>
    <p:extLst>
      <p:ext uri="{BB962C8B-B14F-4D97-AF65-F5344CB8AC3E}">
        <p14:creationId xmlns:p14="http://schemas.microsoft.com/office/powerpoint/2010/main" val="1651105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167B23-8388-4F82-9566-97FF8A9E3B6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Database Design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7A01B86-E4DC-426D-B4D2-CF17FC6C2BAE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E5AA55-1858-4CB9-9B33-65464EF8F6C4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7354A0-F8B1-4377-BFB1-47D3DBDBB39D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28650" y="1143000"/>
          <a:ext cx="10934700" cy="4095749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Entity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Key attributes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Relationships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accounts_user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PK id, username, email, badge_id, role, account_status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Creates cases, uploads evidence, generates or reviews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aidex_cases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PK id, case_number, case_title, crime_category, priority,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One case contains many evidence records and many 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aidex_evidence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PK id, title, type, file metadata, sha256_hash, verification_status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Each evidence record belongs to one case and can have many AI analyses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aidex_ai_analysis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PK id, analysis_number, provider, model_name, status, threat_level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Each analysis belongs to one evidence record and has audit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aidex_investigation_reports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PK id, report_number, version, status, file_sha256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Belongs to one case; links selected evidence and AI analyses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audit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Event type, actor, status changes, metadata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AIAnalysisLog and ReportAuditLog preserve workflow history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37E2644-1DA4-406B-9C3F-866EC42DC308}"/>
              </a:ext>
            </a:extLst>
          </p:cNvPr>
          <p:cNvSpPr>
            <a:spLocks noGrp="1"/>
          </p:cNvSpPr>
          <p:nvPr/>
        </p:nvSpPr>
        <p:spPr>
          <a:xfrm>
            <a:off x="904875" y="5524500"/>
            <a:ext cx="1009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ctr">
              <a:defRPr sz="135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Legend: PK means primary key. FK means foreign key. Report to Evidence and Report to AIAnalysis are many-to-many links through Django-managed junction tables.</a:t>
            </a:r>
          </a:p>
        </p:txBody>
      </p:sp>
    </p:spTree>
    <p:extLst>
      <p:ext uri="{BB962C8B-B14F-4D97-AF65-F5344CB8AC3E}">
        <p14:creationId xmlns:p14="http://schemas.microsoft.com/office/powerpoint/2010/main" val="211613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16490AE-0780-4056-A21A-C8C572EE608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User Workflow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0473C5F-844C-45B4-8540-A64F26716B44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832B5-E4FE-463F-80CC-B48627A303F4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D9CF5C-0768-452B-A0E6-53C13AA22CB3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6B35FD-E370-4E08-91BC-0028317CF64D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1. Login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Account status and role checked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9F5C85-2504-461C-B717-2A1E805CDBC2}"/>
              </a:ext>
            </a:extLst>
          </p:cNvPr>
          <p:cNvSpPr>
            <a:spLocks noGrp="1"/>
          </p:cNvSpPr>
          <p:nvPr/>
        </p:nvSpPr>
        <p:spPr>
          <a:xfrm>
            <a:off x="4476750" y="138112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2. Dashboard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Role-specific overview and actions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F80281-15CC-4BC3-9BBE-CA2481427B42}"/>
              </a:ext>
            </a:extLst>
          </p:cNvPr>
          <p:cNvSpPr>
            <a:spLocks noGrp="1"/>
          </p:cNvSpPr>
          <p:nvPr/>
        </p:nvSpPr>
        <p:spPr>
          <a:xfrm>
            <a:off x="8191500" y="138112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3. Case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Create, assign and update status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6BA274-0EC1-4646-8EB9-C571C672C1AD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4. Evidence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Upload, validate, hash and verify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3485B9-CA90-46FB-8F43-2FE73E8A2ACF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5. AI Analysis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Run explicit analysis and review output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BFB577-C80F-4D33-9C92-50DE81206CFE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6. Report</a:t>
            </a:r>
          </a:p>
          <a:p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Draft, review, approve and publish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72F074-037C-41E0-A9DD-15EEA84B39BA}"/>
              </a:ext>
            </a:extLst>
          </p:cNvPr>
          <p:cNvSpPr>
            <a:spLocks noGrp="1"/>
          </p:cNvSpPr>
          <p:nvPr/>
        </p:nvSpPr>
        <p:spPr>
          <a:xfrm>
            <a:off x="1143000" y="528637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79"/>
          </a:bodyPr>
          <a:lstStyle/>
          <a:p>
            <a:pPr algn="ctr">
              <a:defRPr sz="165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The workflow follows the actual application routes: account login, role dashboard, case management, evidence management, AI analysis and report lifecycle.</a:t>
            </a:r>
          </a:p>
        </p:txBody>
      </p:sp>
    </p:spTree>
    <p:extLst>
      <p:ext uri="{BB962C8B-B14F-4D97-AF65-F5344CB8AC3E}">
        <p14:creationId xmlns:p14="http://schemas.microsoft.com/office/powerpoint/2010/main" val="206260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73D346-F723-4F56-A14D-ADABC355812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Application Screenshots Part 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7FFEEA0-0CF3-4F88-AD9C-B5E49E48036B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5ED29-999D-49AF-B888-FE87ECBF9CE2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5E22B-FE14-40A7-9051-DA8BBD7EDC65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7B263-7851-46DF-8F5E-069C4FE6822A}"/>
              </a:ext>
            </a:extLst>
          </p:cNvPr>
          <p:cNvSpPr>
            <a:spLocks noGrp="1"/>
          </p:cNvSpPr>
          <p:nvPr/>
        </p:nvSpPr>
        <p:spPr>
          <a:xfrm>
            <a:off x="762000" y="109537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158"/>
          </a:bodyPr>
          <a:lstStyle/>
          <a:p>
            <a:pPr algn="ctr">
              <a:defRPr sz="1425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359DB5-4A68-470C-BC28-975248FDC4FB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4953000" cy="3095625"/>
          </a:xfrm>
          <a:prstGeom prst="roundRect">
            <a:avLst>
              <a:gd name="adj" fmla="val 2462"/>
            </a:avLst>
          </a:prstGeom>
          <a:noFill/>
          <a:ln w="11430">
            <a:solidFill>
              <a:srgbClr val="D6DEE8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9DC7CB-9AC2-4057-BF29-4E42391BA624}"/>
              </a:ext>
            </a:extLst>
          </p:cNvPr>
          <p:cNvSpPr>
            <a:spLocks noGrp="1"/>
          </p:cNvSpPr>
          <p:nvPr/>
        </p:nvSpPr>
        <p:spPr>
          <a:xfrm>
            <a:off x="6477000" y="109537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158"/>
          </a:bodyPr>
          <a:lstStyle/>
          <a:p>
            <a:pPr algn="ctr">
              <a:defRPr sz="1425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2D38B8-77DC-4D1A-AD8C-B7BB4AD27C23}"/>
              </a:ext>
            </a:extLst>
          </p:cNvPr>
          <p:cNvSpPr>
            <a:spLocks noGrp="1"/>
          </p:cNvSpPr>
          <p:nvPr/>
        </p:nvSpPr>
        <p:spPr>
          <a:xfrm>
            <a:off x="6477000" y="1381125"/>
            <a:ext cx="4953000" cy="3095625"/>
          </a:xfrm>
          <a:prstGeom prst="roundRect">
            <a:avLst>
              <a:gd name="adj" fmla="val 2462"/>
            </a:avLst>
          </a:prstGeom>
          <a:noFill/>
          <a:ln w="11430">
            <a:solidFill>
              <a:srgbClr val="D6DEE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9D0DB7-B5DA-4997-8219-C375903FD76A}"/>
              </a:ext>
            </a:extLst>
          </p:cNvPr>
          <p:cNvSpPr>
            <a:spLocks noGrp="1"/>
          </p:cNvSpPr>
          <p:nvPr/>
        </p:nvSpPr>
        <p:spPr>
          <a:xfrm>
            <a:off x="1714500" y="509587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Login screen shows the authentication entry point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Administrator dashboard shows real summary cards and module shortcuts</a:t>
            </a:r>
          </a:p>
        </p:txBody>
      </p:sp>
    </p:spTree>
    <p:extLst>
      <p:ext uri="{BB962C8B-B14F-4D97-AF65-F5344CB8AC3E}">
        <p14:creationId xmlns:p14="http://schemas.microsoft.com/office/powerpoint/2010/main" val="157254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5818F6-F185-4A87-826E-CBF2606D3E5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Application Screenshots Part 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9D417FB-DF5A-4984-BE1F-15B118E1D5CB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DA1DF-4F09-4BC3-BCCB-D5248DD6FA69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5746F-EB71-48C1-835D-13D8F22B53A8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57FDA-0B8B-4B8D-AB34-24A7A019954D}"/>
              </a:ext>
            </a:extLst>
          </p:cNvPr>
          <p:cNvSpPr>
            <a:spLocks noGrp="1"/>
          </p:cNvSpPr>
          <p:nvPr/>
        </p:nvSpPr>
        <p:spPr>
          <a:xfrm>
            <a:off x="666750" y="1114425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ct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Case Detail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4082" r="4082"/>
          <a:stretch>
            <a:fillRect/>
          </a:stretch>
        </p:blipFill>
        <p:spPr>
          <a:xfrm>
            <a:off x="666750" y="1381125"/>
            <a:ext cx="3429000" cy="2333625"/>
          </a:xfrm>
          <a:prstGeom prst="roundRect">
            <a:avLst>
              <a:gd name="adj" fmla="val 3265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DE834D-87D0-4C44-9A1B-70604B93B217}"/>
              </a:ext>
            </a:extLst>
          </p:cNvPr>
          <p:cNvSpPr>
            <a:spLocks noGrp="1"/>
          </p:cNvSpPr>
          <p:nvPr/>
        </p:nvSpPr>
        <p:spPr>
          <a:xfrm>
            <a:off x="4381500" y="1114425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ct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Evidence Register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rcRect l="4082" r="4082"/>
          <a:stretch>
            <a:fillRect/>
          </a:stretch>
        </p:blipFill>
        <p:spPr>
          <a:xfrm>
            <a:off x="4381500" y="1381125"/>
            <a:ext cx="3429000" cy="2333625"/>
          </a:xfrm>
          <a:prstGeom prst="roundRect">
            <a:avLst>
              <a:gd name="adj" fmla="val 3265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53477B-86B0-4549-8275-A16ED7095671}"/>
              </a:ext>
            </a:extLst>
          </p:cNvPr>
          <p:cNvSpPr>
            <a:spLocks noGrp="1"/>
          </p:cNvSpPr>
          <p:nvPr/>
        </p:nvSpPr>
        <p:spPr>
          <a:xfrm>
            <a:off x="8096250" y="1114425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ct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Evidence Detail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rcRect l="4082" r="4082"/>
          <a:stretch>
            <a:fillRect/>
          </a:stretch>
        </p:blipFill>
        <p:spPr>
          <a:xfrm>
            <a:off x="8096250" y="1381125"/>
            <a:ext cx="3429000" cy="2333625"/>
          </a:xfrm>
          <a:prstGeom prst="roundRect">
            <a:avLst>
              <a:gd name="adj" fmla="val 3265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74C6B7-8DA5-4158-9C68-6483E425D064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94297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Case detail shows assignment and status workflow</a:t>
            </a: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Evidence register shows search, filters and verification counts</a:t>
            </a: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Evidence detail keeps file metadata and integrity context visible</a:t>
            </a:r>
          </a:p>
        </p:txBody>
      </p:sp>
    </p:spTree>
    <p:extLst>
      <p:ext uri="{BB962C8B-B14F-4D97-AF65-F5344CB8AC3E}">
        <p14:creationId xmlns:p14="http://schemas.microsoft.com/office/powerpoint/2010/main" val="1760952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9CABD5-B3BD-477E-BCA0-4E64CA25D0F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Application Screenshots Part 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CFFCBFC-3B5F-43DC-8969-C03FEB04921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EE6DD-45C4-425F-9D3A-FD94C21F49E9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BA2BB3-78B3-4214-98B9-BA878222854A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0D307-C410-4022-9A72-5F40AC057CAA}"/>
              </a:ext>
            </a:extLst>
          </p:cNvPr>
          <p:cNvSpPr>
            <a:spLocks noGrp="1"/>
          </p:cNvSpPr>
          <p:nvPr/>
        </p:nvSpPr>
        <p:spPr>
          <a:xfrm>
            <a:off x="762000" y="11430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158"/>
          </a:bodyPr>
          <a:lstStyle/>
          <a:p>
            <a:pPr algn="ctr">
              <a:defRPr sz="1425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Report Register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769" b="769"/>
          <a:stretch>
            <a:fillRect/>
          </a:stretch>
        </p:blipFill>
        <p:spPr>
          <a:xfrm>
            <a:off x="762000" y="1428750"/>
            <a:ext cx="4953000" cy="3048000"/>
          </a:xfrm>
          <a:prstGeom prst="roundRect">
            <a:avLst>
              <a:gd name="adj" fmla="val 2500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AB19FF-19CA-4C7E-AF8C-AD4C3BA2A14B}"/>
              </a:ext>
            </a:extLst>
          </p:cNvPr>
          <p:cNvSpPr>
            <a:spLocks noGrp="1"/>
          </p:cNvSpPr>
          <p:nvPr/>
        </p:nvSpPr>
        <p:spPr>
          <a:xfrm>
            <a:off x="6477000" y="11430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158"/>
          </a:bodyPr>
          <a:lstStyle/>
          <a:p>
            <a:pPr algn="ctr">
              <a:defRPr sz="1425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Report Detail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t="769" b="769"/>
          <a:stretch>
            <a:fillRect/>
          </a:stretch>
        </p:blipFill>
        <p:spPr>
          <a:xfrm>
            <a:off x="6477000" y="1428750"/>
            <a:ext cx="4953000" cy="3048000"/>
          </a:xfrm>
          <a:prstGeom prst="roundRect">
            <a:avLst>
              <a:gd name="adj" fmla="val 250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58D3A7-D10E-40F5-8D59-2F527E888577}"/>
              </a:ext>
            </a:extLst>
          </p:cNvPr>
          <p:cNvSpPr>
            <a:spLocks noGrp="1"/>
          </p:cNvSpPr>
          <p:nvPr/>
        </p:nvSpPr>
        <p:spPr>
          <a:xfrm>
            <a:off x="1619250" y="5095875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Report register shows searchable investigation report records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Report detail shows narrative sections, lifecycle status and metadata</a:t>
            </a:r>
          </a:p>
        </p:txBody>
      </p:sp>
    </p:spTree>
    <p:extLst>
      <p:ext uri="{BB962C8B-B14F-4D97-AF65-F5344CB8AC3E}">
        <p14:creationId xmlns:p14="http://schemas.microsoft.com/office/powerpoint/2010/main" val="696815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334303-ED46-4929-BADA-57A8222A49B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AI / Intelligent Analysis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8DC263F-5C2A-4BB0-85B2-E36C63B6530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411499-C4F0-44AE-AC9D-C02C16D38848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151D50-47D1-4315-A8D8-9F6175A043AA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t="145" b="145"/>
          <a:stretch>
            <a:fillRect/>
          </a:stretch>
        </p:blipFill>
        <p:spPr>
          <a:xfrm>
            <a:off x="666750" y="1285875"/>
            <a:ext cx="6572250" cy="4095750"/>
          </a:xfrm>
          <a:prstGeom prst="roundRect">
            <a:avLst>
              <a:gd name="adj" fmla="val 186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144DD2-E8A2-4CB7-81F7-6C602D446F6A}"/>
              </a:ext>
            </a:extLst>
          </p:cNvPr>
          <p:cNvSpPr>
            <a:spLocks noGrp="1"/>
          </p:cNvSpPr>
          <p:nvPr/>
        </p:nvSpPr>
        <p:spPr>
          <a:xfrm>
            <a:off x="7667625" y="1381125"/>
            <a:ext cx="3429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212"/>
          </a:bodyPr>
          <a:lstStyle/>
          <a:p>
            <a:pPr algn="l"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AI analysis works on uploaded evidence records. Users create an analysis request, choose the provider/model, run the analysis explicitly, then review the result before it can support reporting.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459CD-4087-4013-9232-C92CCC617D13}"/>
              </a:ext>
            </a:extLst>
          </p:cNvPr>
          <p:cNvSpPr>
            <a:spLocks noGrp="1"/>
          </p:cNvSpPr>
          <p:nvPr/>
        </p:nvSpPr>
        <p:spPr>
          <a:xfrm>
            <a:off x="7667625" y="2952750"/>
            <a:ext cx="3476625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Implemented providers: Gemini, OpenRouter-compatible and Local</a:t>
            </a: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Stores status, threat level, risk/confidence fields, token counts and provider errors</a:t>
            </a: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Includes retry, cancel, archive, restore and human review workflows</a:t>
            </a: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OCR/extraction supports text, PDF, images, DOCX, XLSX, PPTX, ZIP and sampled video frames</a:t>
            </a:r>
          </a:p>
        </p:txBody>
      </p:sp>
    </p:spTree>
    <p:extLst>
      <p:ext uri="{BB962C8B-B14F-4D97-AF65-F5344CB8AC3E}">
        <p14:creationId xmlns:p14="http://schemas.microsoft.com/office/powerpoint/2010/main" val="48878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D298C8-792E-409A-9F4D-FD65BD9B513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Testing &amp; Results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7D97143-5EF9-470E-AD98-DAFEC1D7C07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3B216D-4C89-4E2B-8030-0F2278BC6D90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C3E6B-3971-49AD-8D16-34D97BE1691D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B9327-5CE2-4C3B-A5D3-7D57485C2F1B}"/>
              </a:ext>
            </a:extLst>
          </p:cNvPr>
          <p:cNvSpPr>
            <a:spLocks noGrp="1"/>
          </p:cNvSpPr>
          <p:nvPr/>
        </p:nvSpPr>
        <p:spPr>
          <a:xfrm>
            <a:off x="857250" y="1190625"/>
            <a:ext cx="10287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0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automated Django test suite was run after screenshot capture. Result: 79 tests passed in 83.575 seconds, with system checks reporting no issues.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857250" y="2333625"/>
          <a:ext cx="10477500" cy="328612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44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Area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Important verified scenarios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Login lockout, counter reset, expired lock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Assignment, role visibility, status transitions, archive and restore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AES-GCM storage, SHA-256 metadata, file-signature checks, secure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AI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Provider selection, cache keys, retry, cancel, human review and safe errors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Review, approval, PDF publication gate, audit log and revisions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12F"/>
                          </a:solidFill>
                          <a:latin typeface="Aptos"/>
                          <a:ea typeface="Aptos"/>
                          <a:cs typeface="Aptos"/>
                        </a:rPr>
                        <a:t>Role-based redirect and dashboard access protection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547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755713-1EB1-461E-A855-CC1542768C9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Advantages &amp; Limitations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220A032-4882-4C73-8DC1-B12D34666AC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8F513-4D3D-44D0-8632-222AFBEADA06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A52DC-61E0-4A7E-B753-300999E377FE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F3F28-905B-44EB-8D83-A3F63C9A91F8}"/>
              </a:ext>
            </a:extLst>
          </p:cNvPr>
          <p:cNvSpPr>
            <a:spLocks noGrp="1"/>
          </p:cNvSpPr>
          <p:nvPr/>
        </p:nvSpPr>
        <p:spPr>
          <a:xfrm>
            <a:off x="857250" y="119062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571"/>
          </a:bodyPr>
          <a:lstStyle/>
          <a:p>
            <a:pPr algn="l">
              <a:defRPr sz="210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D4ED60-FAF5-441E-A7A5-725BB716FAD9}"/>
              </a:ext>
            </a:extLst>
          </p:cNvPr>
          <p:cNvSpPr>
            <a:spLocks noGrp="1"/>
          </p:cNvSpPr>
          <p:nvPr/>
        </p:nvSpPr>
        <p:spPr>
          <a:xfrm>
            <a:off x="952500" y="1695450"/>
            <a:ext cx="466725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Central workflow for cyber-crime cases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Encrypted evidence storage with integrity checks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Role-based dashboards and access rules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AI and report actions preserve review/audit 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D2A7F-F28A-400B-9505-941CB57FCC1A}"/>
              </a:ext>
            </a:extLst>
          </p:cNvPr>
          <p:cNvSpPr>
            <a:spLocks noGrp="1"/>
          </p:cNvSpPr>
          <p:nvPr/>
        </p:nvSpPr>
        <p:spPr>
          <a:xfrm>
            <a:off x="6572250" y="119062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571"/>
          </a:bodyPr>
          <a:lstStyle/>
          <a:p>
            <a:pPr algn="l">
              <a:defRPr sz="2100" b="1">
                <a:solidFill>
                  <a:srgbClr val="A944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94442"/>
                </a:solidFill>
                <a:latin typeface="Aptos"/>
                <a:ea typeface="Aptos"/>
                <a:cs typeface="Aptos"/>
              </a:rPr>
              <a:t>Current Limitations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0F650-AE3C-48A9-98C4-1F8E1C6C050D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667250" cy="2238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Audio transcription is an explicit placeholder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Heavy OCR/video work still runs synchronously in this build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Production deployment needs configured secrets, HTTPS and host settings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• Screenshots use temporary demo data, not live investigation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B03FD9-B181-49E7-BBEC-04EAE45AD7F8}"/>
              </a:ext>
            </a:extLst>
          </p:cNvPr>
          <p:cNvSpPr>
            <a:spLocks noGrp="1"/>
          </p:cNvSpPr>
          <p:nvPr/>
        </p:nvSpPr>
        <p:spPr>
          <a:xfrm>
            <a:off x="1238250" y="5191125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874"/>
          </a:bodyPr>
          <a:lstStyle/>
          <a:p>
            <a:pPr algn="ctr">
              <a:defRPr sz="1575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Future scope: background workers for heavy analysis, configured speech-to-text, richer export automation and deployment monitoring.</a:t>
            </a:r>
          </a:p>
        </p:txBody>
      </p:sp>
    </p:spTree>
    <p:extLst>
      <p:ext uri="{BB962C8B-B14F-4D97-AF65-F5344CB8AC3E}">
        <p14:creationId xmlns:p14="http://schemas.microsoft.com/office/powerpoint/2010/main" val="1006050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960B28-CD78-4DB9-B450-1064702D7BA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defRPr sz="25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72CFE0A-CDE3-472E-9DFD-9BF5782ACC1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7428E8-4EBD-4644-9EB6-823207917717}"/>
              </a:ext>
            </a:extLst>
          </p:cNvPr>
          <p:cNvSpPr>
            <a:spLocks noGrp="1"/>
          </p:cNvSpPr>
          <p:nvPr/>
        </p:nvSpPr>
        <p:spPr>
          <a:xfrm>
            <a:off x="10287000" y="361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r">
              <a:defRPr sz="1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DBF993-0DB3-42A8-B395-F7B1FC3A1DE3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r">
              <a:defRPr sz="12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CDB7B-30E6-4ECE-8C6A-FF82D4A27143}"/>
              </a:ext>
            </a:extLst>
          </p:cNvPr>
          <p:cNvSpPr>
            <a:spLocks noGrp="1"/>
          </p:cNvSpPr>
          <p:nvPr/>
        </p:nvSpPr>
        <p:spPr>
          <a:xfrm>
            <a:off x="3714750" y="16192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782"/>
          </a:bodyPr>
          <a:lstStyle/>
          <a:p>
            <a:pPr algn="ctr">
              <a:defRPr sz="4350" b="1">
                <a:solidFill>
                  <a:srgbClr val="1F5D8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F5D8C"/>
                </a:solidFill>
                <a:latin typeface="Aptos"/>
                <a:ea typeface="Aptos"/>
                <a:cs typeface="Aptos"/>
              </a:rPr>
              <a:t>AIDEX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397ACE-1E67-49CA-9934-84B158D5BDD3}"/>
              </a:ext>
            </a:extLst>
          </p:cNvPr>
          <p:cNvSpPr>
            <a:spLocks noGrp="1"/>
          </p:cNvSpPr>
          <p:nvPr/>
        </p:nvSpPr>
        <p:spPr>
          <a:xfrm>
            <a:off x="2095500" y="2524125"/>
            <a:ext cx="8001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1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AI Digital Evidence Intelligence &amp; Investigation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CAF792-67C3-483F-9DF8-164024CEF969}"/>
              </a:ext>
            </a:extLst>
          </p:cNvPr>
          <p:cNvSpPr>
            <a:spLocks noGrp="1"/>
          </p:cNvSpPr>
          <p:nvPr/>
        </p:nvSpPr>
        <p:spPr>
          <a:xfrm>
            <a:off x="3429000" y="371475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518"/>
          </a:bodyPr>
          <a:lstStyle/>
          <a:p>
            <a:pPr algn="ctr">
              <a:defRPr sz="2700" b="1">
                <a:solidFill>
                  <a:srgbClr val="17827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8277"/>
                </a:solidFill>
                <a:latin typeface="Aptos"/>
                <a:ea typeface="Aptos"/>
                <a:cs typeface="Aptos"/>
              </a:rPr>
              <a:t>Questions &amp; Answers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D52BF2-B5D4-4436-9FE5-9344E4291FB1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742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A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575"/>
                </a:solidFill>
                <a:latin typeface="Aptos"/>
                <a:ea typeface="Aptos"/>
                <a:cs typeface="Aptos"/>
              </a:rPr>
              <a:t>Team: Saksham Patel, Harsh, Shrushti, Amisha, Viral</a:t>
            </a:r>
          </a:p>
        </p:txBody>
      </p:sp>
    </p:spTree>
    <p:extLst>
      <p:ext uri="{BB962C8B-B14F-4D97-AF65-F5344CB8AC3E}">
        <p14:creationId xmlns:p14="http://schemas.microsoft.com/office/powerpoint/2010/main" val="6622535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1860</Words>
  <Application>Microsoft Office PowerPoint</Application>
  <DocSecurity>0</DocSecurity>
  <PresentationFormat>Widescreen</PresentationFormat>
  <Paragraphs>275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saksham patel</cp:lastModifiedBy>
  <cp:revision>1</cp:revision>
  <dcterms:created xsi:type="dcterms:W3CDTF">2026-09-14T09:08:14Z</dcterms:created>
  <dcterms:modified xsi:type="dcterms:W3CDTF">2026-09-14T09:18:39Z</dcterms:modified>
</cp:coreProperties>
</file>