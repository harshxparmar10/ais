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40FAB2-A83C-4426-BFB9-AFBAB6B77F37}" v="4" dt="2026-09-14T10:09:14.7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sham patel" userId="dbacb2f56bb490de" providerId="LiveId" clId="{73AEF93E-64D0-4766-9B1F-E9B2D895720D}"/>
    <pc:docChg chg="custSel modSld">
      <pc:chgData name="saksham patel" userId="dbacb2f56bb490de" providerId="LiveId" clId="{73AEF93E-64D0-4766-9B1F-E9B2D895720D}" dt="2026-09-14T10:09:17.914" v="285" actId="20577"/>
      <pc:docMkLst>
        <pc:docMk/>
      </pc:docMkLst>
      <pc:sldChg chg="modSp mod">
        <pc:chgData name="saksham patel" userId="dbacb2f56bb490de" providerId="LiveId" clId="{73AEF93E-64D0-4766-9B1F-E9B2D895720D}" dt="2026-09-14T10:03:00.396" v="148" actId="20577"/>
        <pc:sldMkLst>
          <pc:docMk/>
          <pc:sldMk cId="1416577484" sldId="256"/>
        </pc:sldMkLst>
        <pc:spChg chg="mod">
          <ac:chgData name="saksham patel" userId="dbacb2f56bb490de" providerId="LiveId" clId="{73AEF93E-64D0-4766-9B1F-E9B2D895720D}" dt="2026-09-14T09:59:51.690" v="1" actId="14100"/>
          <ac:spMkLst>
            <pc:docMk/>
            <pc:sldMk cId="1416577484" sldId="256"/>
            <ac:spMk id="2" creationId="{CFF52FCE-40C7-4A2F-9650-F61B8013681E}"/>
          </ac:spMkLst>
        </pc:spChg>
        <pc:spChg chg="mod">
          <ac:chgData name="saksham patel" userId="dbacb2f56bb490de" providerId="LiveId" clId="{73AEF93E-64D0-4766-9B1F-E9B2D895720D}" dt="2026-09-14T10:03:00.396" v="148" actId="20577"/>
          <ac:spMkLst>
            <pc:docMk/>
            <pc:sldMk cId="1416577484" sldId="256"/>
            <ac:spMk id="5" creationId="{946EE185-4A77-4F70-8094-18E631B31138}"/>
          </ac:spMkLst>
        </pc:spChg>
      </pc:sldChg>
      <pc:sldChg chg="delSp modSp mod">
        <pc:chgData name="saksham patel" userId="dbacb2f56bb490de" providerId="LiveId" clId="{73AEF93E-64D0-4766-9B1F-E9B2D895720D}" dt="2026-09-14T10:09:17.914" v="285" actId="20577"/>
        <pc:sldMkLst>
          <pc:docMk/>
          <pc:sldMk cId="1863927570" sldId="257"/>
        </pc:sldMkLst>
        <pc:spChg chg="mod">
          <ac:chgData name="saksham patel" userId="dbacb2f56bb490de" providerId="LiveId" clId="{73AEF93E-64D0-4766-9B1F-E9B2D895720D}" dt="2026-09-14T10:08:54.875" v="262" actId="20577"/>
          <ac:spMkLst>
            <pc:docMk/>
            <pc:sldMk cId="1863927570" sldId="257"/>
            <ac:spMk id="5" creationId="{200CC2A2-12D7-42F0-98B9-8A0609583349}"/>
          </ac:spMkLst>
        </pc:spChg>
        <pc:spChg chg="mod">
          <ac:chgData name="saksham patel" userId="dbacb2f56bb490de" providerId="LiveId" clId="{73AEF93E-64D0-4766-9B1F-E9B2D895720D}" dt="2026-09-14T10:09:17.914" v="285" actId="20577"/>
          <ac:spMkLst>
            <pc:docMk/>
            <pc:sldMk cId="1863927570" sldId="257"/>
            <ac:spMk id="6" creationId="{8FA4B796-FDDC-4EFD-99F4-99B6F4BEBEA9}"/>
          </ac:spMkLst>
        </pc:spChg>
        <pc:spChg chg="mod">
          <ac:chgData name="saksham patel" userId="dbacb2f56bb490de" providerId="LiveId" clId="{73AEF93E-64D0-4766-9B1F-E9B2D895720D}" dt="2026-09-14T10:06:50.752" v="221" actId="1076"/>
          <ac:spMkLst>
            <pc:docMk/>
            <pc:sldMk cId="1863927570" sldId="257"/>
            <ac:spMk id="7" creationId="{E20568BB-47BA-4DCE-8A88-0393D73007DE}"/>
          </ac:spMkLst>
        </pc:spChg>
        <pc:spChg chg="mod">
          <ac:chgData name="saksham patel" userId="dbacb2f56bb490de" providerId="LiveId" clId="{73AEF93E-64D0-4766-9B1F-E9B2D895720D}" dt="2026-09-14T10:08:15.792" v="248" actId="20577"/>
          <ac:spMkLst>
            <pc:docMk/>
            <pc:sldMk cId="1863927570" sldId="257"/>
            <ac:spMk id="8" creationId="{DEFD7C86-1DA2-46CA-B209-FAB505CB1D8E}"/>
          </ac:spMkLst>
        </pc:spChg>
        <pc:spChg chg="mod">
          <ac:chgData name="saksham patel" userId="dbacb2f56bb490de" providerId="LiveId" clId="{73AEF93E-64D0-4766-9B1F-E9B2D895720D}" dt="2026-09-14T10:07:51.673" v="235" actId="20577"/>
          <ac:spMkLst>
            <pc:docMk/>
            <pc:sldMk cId="1863927570" sldId="257"/>
            <ac:spMk id="9" creationId="{79B49952-0BB3-4048-821E-173B75CFDA9E}"/>
          </ac:spMkLst>
        </pc:spChg>
        <pc:spChg chg="del mod">
          <ac:chgData name="saksham patel" userId="dbacb2f56bb490de" providerId="LiveId" clId="{73AEF93E-64D0-4766-9B1F-E9B2D895720D}" dt="2026-09-14T10:03:15.620" v="150" actId="478"/>
          <ac:spMkLst>
            <pc:docMk/>
            <pc:sldMk cId="1863927570" sldId="257"/>
            <ac:spMk id="10" creationId="{07026C18-7940-4407-A9A3-1C7F8A1E9003}"/>
          </ac:spMkLst>
        </pc:spChg>
      </pc:sldChg>
      <pc:sldChg chg="delSp modSp mod">
        <pc:chgData name="saksham patel" userId="dbacb2f56bb490de" providerId="LiveId" clId="{73AEF93E-64D0-4766-9B1F-E9B2D895720D}" dt="2026-09-14T10:00:49.228" v="42" actId="478"/>
        <pc:sldMkLst>
          <pc:docMk/>
          <pc:sldMk cId="634360188" sldId="275"/>
        </pc:sldMkLst>
        <pc:spChg chg="del mod">
          <ac:chgData name="saksham patel" userId="dbacb2f56bb490de" providerId="LiveId" clId="{73AEF93E-64D0-4766-9B1F-E9B2D895720D}" dt="2026-09-14T10:00:49.228" v="42" actId="478"/>
          <ac:spMkLst>
            <pc:docMk/>
            <pc:sldMk cId="634360188" sldId="275"/>
            <ac:spMk id="7" creationId="{375AD545-B421-4000-A370-51DE8AA025E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README.md and aidex/settings.py identify AIDEX and the project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Team names came from README.md. No enrollment numbers were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Verified from README.md, dashboard/views.py, cases/views.py, evidence/views.py, ai_engine/models.py, reports/models.py.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Supported by evidence/models.py, evidence/encrypted_storage.py, cases/forms.py, reports/services.py and 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Objectives reflect implemented modules in accounts, dashboard, cases, evidence, ai_engine and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Comparison is derived from implemented workflows and 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requirements.txt, README.md, aidex/settings.py, ai_engine/providers.py, ai_engine/ocr.py, evidence/encrypted_storage.py.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Architecture from aidex/urls.py, settings.py, module views/forms/models and protected media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app directories, urls.py files, models.py, forms.py and views.py.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Feature status: implemented or partially implemented only. QR functionality was not found and is not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 relationships verified from accounts/models.py, cases/models.py, evidence/models.py, ai_engine/models.py and reports/models.py.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Detailed ER summary cross-checked against Django models and migrations. Important many-to-many links: Report.included_evidence and Report.included_analyses.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Relationships verified from accounts/models.py, cases/models.py, evidence/models.py, ai_engine/models.py and reports/models.py.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Workflow verified from accounts/urls.py, dashboard/urls.py, cases/urls.py, evidence/urls.py, ai_engine/urls.py and reports/urls.py.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Screenshots captured from /accounts/login/ and /dashboard/admin/.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Screenshots captured from case and evidence module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Screenshots captured from reports/list and report detail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 functionality verified from ai_engine/models.py, forms.py, services.py, providers.py, ocr.py, urls.py and tests.py. Screenshot captured from AI analysis detail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Actual command executed: python manage.py test. Result: Ran 79 tests in 83.575s,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Security evidence from accounts/models.py, accounts/views.py, evidence/encrypted_storage.py, evidence/views.py, reports/models.py and ai_engine/views.py.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 screenshots captured from /ai/, /ai/analysis/ and AI analysis detail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Deployment/run details verified from README.md, aidex/settings.py, aidex/wsgi.py, aidex/asgi.py and render.yaml.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Limitations are based on README production notes and explicit placeholder implementation in ai_engine/ocr.py.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Future scope is separated from implemented functionality. Conclusion summarizes current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slide with project and team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EF6B8F1-4D39-47B1-B373-8CB5E2BD387B}"/>
              </a:ext>
            </a:extLst>
          </p:cNvPr>
          <p:cNvSpPr>
            <a:spLocks noGrp="1"/>
          </p:cNvSpPr>
          <p:nvPr/>
        </p:nvSpPr>
        <p:spPr>
          <a:xfrm>
            <a:off x="685800" y="971550"/>
            <a:ext cx="723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435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435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F52FCE-40C7-4A2F-9650-F61B8013681E}"/>
              </a:ext>
            </a:extLst>
          </p:cNvPr>
          <p:cNvSpPr>
            <a:spLocks noGrp="1"/>
          </p:cNvSpPr>
          <p:nvPr/>
        </p:nvSpPr>
        <p:spPr>
          <a:xfrm>
            <a:off x="723900" y="1790700"/>
            <a:ext cx="7014087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100" b="0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AI Digital Evidence Intelligence &amp; Investigation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E5CE81-26E5-426A-9FF7-5ECCF2AEF65A}"/>
              </a:ext>
            </a:extLst>
          </p:cNvPr>
          <p:cNvSpPr>
            <a:spLocks noGrp="1"/>
          </p:cNvSpPr>
          <p:nvPr/>
        </p:nvSpPr>
        <p:spPr>
          <a:xfrm>
            <a:off x="742950" y="2647950"/>
            <a:ext cx="6667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Minor Project / Academic Project</a:t>
            </a:r>
          </a:p>
          <a:p>
            <a:pPr algn="l">
              <a:defRPr sz="180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Diploma Computer Engineering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B6EAD2D-DE4A-45DD-8D08-44326252D0CC}"/>
              </a:ext>
            </a:extLst>
          </p:cNvPr>
          <p:cNvSpPr>
            <a:spLocks noGrp="1"/>
          </p:cNvSpPr>
          <p:nvPr/>
        </p:nvSpPr>
        <p:spPr>
          <a:xfrm>
            <a:off x="7905750" y="1333500"/>
            <a:ext cx="3048000" cy="2667000"/>
          </a:xfrm>
          <a:prstGeom prst="roundRect">
            <a:avLst>
              <a:gd name="adj" fmla="val 2857"/>
            </a:avLst>
          </a:prstGeom>
          <a:solidFill>
            <a:srgbClr val="EAF4FA"/>
          </a:solidFill>
          <a:ln w="11430">
            <a:solidFill>
              <a:srgbClr val="1F5D8C"/>
            </a:solidFill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1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Cyber-crime cases</a:t>
            </a:r>
          </a:p>
          <a:p>
            <a:pPr algn="ctr">
              <a:defRPr sz="21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1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Digital evidence</a:t>
            </a:r>
          </a:p>
          <a:p>
            <a:pPr algn="ctr">
              <a:defRPr sz="21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1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AI-assisted review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6EE185-4A77-4F70-8094-18E631B31138}"/>
              </a:ext>
            </a:extLst>
          </p:cNvPr>
          <p:cNvSpPr>
            <a:spLocks noGrp="1"/>
          </p:cNvSpPr>
          <p:nvPr/>
        </p:nvSpPr>
        <p:spPr>
          <a:xfrm>
            <a:off x="742950" y="5638800"/>
            <a:ext cx="685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650" b="0" dirty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Institute:</a:t>
            </a:r>
            <a:r>
              <a:rPr lang="en-US" sz="1650" b="0" dirty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sz="1650" b="0" dirty="0" err="1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Neotech</a:t>
            </a:r>
            <a:r>
              <a:rPr lang="en-US" sz="1650" b="0" dirty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 Faculty of Diploma Engineering</a:t>
            </a:r>
            <a:endParaRPr sz="1650" b="0" dirty="0">
              <a:solidFill>
                <a:srgbClr val="5A6575"/>
              </a:solidFill>
              <a:latin typeface="Verdana"/>
              <a:ea typeface="Verdana"/>
              <a:cs typeface="Verdana"/>
            </a:endParaRPr>
          </a:p>
          <a:p>
            <a:pPr algn="l">
              <a:defRPr sz="16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650" b="0" dirty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Academic Year: </a:t>
            </a:r>
            <a:r>
              <a:rPr lang="en-US" sz="1650" dirty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2026-2027</a:t>
            </a:r>
            <a:endParaRPr sz="1650" b="0" dirty="0">
              <a:solidFill>
                <a:srgbClr val="5A6575"/>
              </a:solidFill>
              <a:latin typeface="Verdana"/>
              <a:ea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416577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57AEFED-141C-43FF-823A-5959F7180C0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Team Members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7CFCD620-28BC-40C2-8A59-2F2758D05A2E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3F92E0-803C-4BE3-8BF0-13F88791D41B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B6CCB9-A476-457A-8876-A8FE91A5B983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00CC2A2-12D7-42F0-98B9-8A0609583349}"/>
              </a:ext>
            </a:extLst>
          </p:cNvPr>
          <p:cNvSpPr>
            <a:spLocks noGrp="1"/>
          </p:cNvSpPr>
          <p:nvPr/>
        </p:nvSpPr>
        <p:spPr>
          <a:xfrm>
            <a:off x="825911" y="1465008"/>
            <a:ext cx="3031714" cy="1616330"/>
          </a:xfrm>
          <a:prstGeom prst="roundRect">
            <a:avLst>
              <a:gd name="adj" fmla="val 9091"/>
            </a:avLst>
          </a:prstGeom>
          <a:solidFill>
            <a:srgbClr val="EAF4FA"/>
          </a:solidFill>
          <a:ln w="11430">
            <a:solidFill>
              <a:srgbClr val="1F5D8C"/>
            </a:solidFill>
          </a:ln>
        </p:spPr>
        <p:txBody>
          <a:bodyPr anchor="ctr">
            <a:noAutofit/>
          </a:bodyPr>
          <a:lstStyle/>
          <a:p>
            <a:pPr algn="ctr">
              <a:defRPr sz="187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75" b="1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Saksham Patel</a:t>
            </a:r>
            <a:endParaRPr lang="en-US" sz="1875" b="1" dirty="0">
              <a:solidFill>
                <a:srgbClr val="18212F"/>
              </a:solidFill>
              <a:latin typeface="Verdana"/>
              <a:ea typeface="Verdana"/>
              <a:cs typeface="Verdana"/>
            </a:endParaRPr>
          </a:p>
          <a:p>
            <a:pPr algn="ctr">
              <a:defRPr sz="187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lang="en-US" sz="1875" b="1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Enroll:</a:t>
            </a:r>
          </a:p>
          <a:p>
            <a:pPr algn="ctr">
              <a:defRPr sz="187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lang="en-US" sz="1875" b="1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249590307047</a:t>
            </a:r>
            <a:endParaRPr sz="1875" b="1" dirty="0">
              <a:solidFill>
                <a:srgbClr val="18212F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A4B796-FDDC-4EFD-99F4-99B6F4BEBEA9}"/>
              </a:ext>
            </a:extLst>
          </p:cNvPr>
          <p:cNvSpPr>
            <a:spLocks noGrp="1"/>
          </p:cNvSpPr>
          <p:nvPr/>
        </p:nvSpPr>
        <p:spPr>
          <a:xfrm>
            <a:off x="4319589" y="1473610"/>
            <a:ext cx="2956743" cy="1616331"/>
          </a:xfrm>
          <a:prstGeom prst="roundRect">
            <a:avLst>
              <a:gd name="adj" fmla="val 9091"/>
            </a:avLst>
          </a:prstGeom>
          <a:solidFill>
            <a:srgbClr val="EAF7F5"/>
          </a:solidFill>
          <a:ln w="11430">
            <a:solidFill>
              <a:srgbClr val="178277"/>
            </a:solidFill>
          </a:ln>
        </p:spPr>
        <p:txBody>
          <a:bodyPr anchor="ctr">
            <a:noAutofit/>
          </a:bodyPr>
          <a:lstStyle/>
          <a:p>
            <a:pPr algn="ctr">
              <a:defRPr sz="187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75" b="1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Harsh</a:t>
            </a:r>
            <a:r>
              <a:rPr lang="en-US" sz="1875" b="1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 Parmar</a:t>
            </a:r>
          </a:p>
          <a:p>
            <a:pPr algn="ctr">
              <a:defRPr sz="187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lang="en-US" sz="1875" b="1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Enroll: 249590307035</a:t>
            </a:r>
            <a:endParaRPr sz="1875" b="1" dirty="0">
              <a:solidFill>
                <a:srgbClr val="18212F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0568BB-47BA-4DCE-8A88-0393D73007DE}"/>
              </a:ext>
            </a:extLst>
          </p:cNvPr>
          <p:cNvSpPr>
            <a:spLocks noGrp="1"/>
          </p:cNvSpPr>
          <p:nvPr/>
        </p:nvSpPr>
        <p:spPr>
          <a:xfrm>
            <a:off x="7738296" y="1465008"/>
            <a:ext cx="2648104" cy="1616330"/>
          </a:xfrm>
          <a:prstGeom prst="roundRect">
            <a:avLst>
              <a:gd name="adj" fmla="val 8516"/>
            </a:avLst>
          </a:prstGeom>
          <a:solidFill>
            <a:srgbClr val="EAF4FA"/>
          </a:solidFill>
          <a:ln w="11430">
            <a:solidFill>
              <a:srgbClr val="1F5D8C"/>
            </a:solidFill>
          </a:ln>
        </p:spPr>
        <p:txBody>
          <a:bodyPr anchor="ctr">
            <a:noAutofit/>
          </a:bodyPr>
          <a:lstStyle/>
          <a:p>
            <a:pPr algn="ctr">
              <a:defRPr sz="187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75" b="1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Shrushti</a:t>
            </a:r>
            <a:r>
              <a:rPr lang="en-US" sz="1875" b="1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 Suthar</a:t>
            </a:r>
          </a:p>
          <a:p>
            <a:pPr algn="ctr">
              <a:defRPr sz="187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lang="en-US" sz="1875" b="1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Enroll: 249590307061</a:t>
            </a:r>
            <a:endParaRPr sz="1875" b="1" dirty="0">
              <a:solidFill>
                <a:srgbClr val="18212F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FD7C86-1DA2-46CA-B209-FAB505CB1D8E}"/>
              </a:ext>
            </a:extLst>
          </p:cNvPr>
          <p:cNvSpPr>
            <a:spLocks noGrp="1"/>
          </p:cNvSpPr>
          <p:nvPr/>
        </p:nvSpPr>
        <p:spPr>
          <a:xfrm>
            <a:off x="825911" y="3670045"/>
            <a:ext cx="3031714" cy="1616331"/>
          </a:xfrm>
          <a:prstGeom prst="roundRect">
            <a:avLst>
              <a:gd name="adj" fmla="val 9091"/>
            </a:avLst>
          </a:prstGeom>
          <a:solidFill>
            <a:srgbClr val="EAF7F5"/>
          </a:solidFill>
          <a:ln w="11430">
            <a:solidFill>
              <a:srgbClr val="178277"/>
            </a:solidFill>
          </a:ln>
        </p:spPr>
        <p:txBody>
          <a:bodyPr anchor="ctr">
            <a:noAutofit/>
          </a:bodyPr>
          <a:lstStyle/>
          <a:p>
            <a:pPr algn="ctr">
              <a:defRPr sz="187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75" b="1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Amisha</a:t>
            </a:r>
            <a:r>
              <a:rPr lang="en-US" sz="1875" b="1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 Agarwal</a:t>
            </a:r>
          </a:p>
          <a:p>
            <a:pPr algn="ctr">
              <a:defRPr sz="187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lang="en-US" sz="1875" b="1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Enroll: 249590307001</a:t>
            </a:r>
            <a:endParaRPr sz="1875" b="1" dirty="0">
              <a:solidFill>
                <a:srgbClr val="18212F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9B49952-0BB3-4048-821E-173B75CFDA9E}"/>
              </a:ext>
            </a:extLst>
          </p:cNvPr>
          <p:cNvSpPr>
            <a:spLocks noGrp="1"/>
          </p:cNvSpPr>
          <p:nvPr/>
        </p:nvSpPr>
        <p:spPr>
          <a:xfrm>
            <a:off x="4319589" y="3687250"/>
            <a:ext cx="2887918" cy="1616331"/>
          </a:xfrm>
          <a:prstGeom prst="roundRect">
            <a:avLst>
              <a:gd name="adj" fmla="val 9091"/>
            </a:avLst>
          </a:prstGeom>
          <a:solidFill>
            <a:srgbClr val="EAF4FA"/>
          </a:solidFill>
          <a:ln w="11430">
            <a:solidFill>
              <a:srgbClr val="1F5D8C"/>
            </a:solidFill>
          </a:ln>
        </p:spPr>
        <p:txBody>
          <a:bodyPr anchor="ctr">
            <a:noAutofit/>
          </a:bodyPr>
          <a:lstStyle/>
          <a:p>
            <a:pPr algn="ctr">
              <a:defRPr sz="187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75" b="1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Viral</a:t>
            </a:r>
            <a:r>
              <a:rPr lang="en-US" sz="1875" b="1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 Mali</a:t>
            </a:r>
          </a:p>
          <a:p>
            <a:pPr algn="ctr">
              <a:defRPr sz="187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lang="en-US" sz="1875" b="1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Enroll:</a:t>
            </a:r>
          </a:p>
          <a:p>
            <a:pPr algn="ctr">
              <a:defRPr sz="187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lang="en-US" sz="1875" b="1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249590307029</a:t>
            </a:r>
            <a:endParaRPr sz="1875" b="1" dirty="0">
              <a:solidFill>
                <a:srgbClr val="18212F"/>
              </a:solidFill>
              <a:latin typeface="Verdana"/>
              <a:ea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863927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873820D-715A-4DFF-9DD9-7238ABEA698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Introduction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9F8A1652-CAB0-48A9-94AE-6D70BDFCB3B2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1D2723-BDEA-4AF4-9357-7B13F0C628CA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0B2AF8-31E4-436F-ABD6-DF2D942CE57C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46067B-3B1A-4DD8-A14D-767C9782E86F}"/>
              </a:ext>
            </a:extLst>
          </p:cNvPr>
          <p:cNvSpPr>
            <a:spLocks noGrp="1"/>
          </p:cNvSpPr>
          <p:nvPr/>
        </p:nvSpPr>
        <p:spPr>
          <a:xfrm>
            <a:off x="742950" y="1238250"/>
            <a:ext cx="99060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025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AIDEX supports cyber-crime investigation work by linking cases, uploaded digital evidence, AI-assisted analysis and investigation reports in one role-aware Django application.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EBAA621-8984-461A-9B7A-FA95D4C1A648}"/>
              </a:ext>
            </a:extLst>
          </p:cNvPr>
          <p:cNvSpPr>
            <a:spLocks noGrp="1"/>
          </p:cNvSpPr>
          <p:nvPr/>
        </p:nvSpPr>
        <p:spPr>
          <a:xfrm>
            <a:off x="1143000" y="2724150"/>
            <a:ext cx="2476500" cy="819150"/>
          </a:xfrm>
          <a:prstGeom prst="roundRect">
            <a:avLst>
              <a:gd name="adj" fmla="val 9302"/>
            </a:avLst>
          </a:prstGeom>
          <a:solidFill>
            <a:srgbClr val="EAF4FA"/>
          </a:solidFill>
          <a:ln w="11430">
            <a:solidFill>
              <a:srgbClr val="1F5D8C"/>
            </a:solidFill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Administrators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A161B0D-7D58-4444-88C3-CE6810053C98}"/>
              </a:ext>
            </a:extLst>
          </p:cNvPr>
          <p:cNvSpPr>
            <a:spLocks noGrp="1"/>
          </p:cNvSpPr>
          <p:nvPr/>
        </p:nvSpPr>
        <p:spPr>
          <a:xfrm>
            <a:off x="4857750" y="2724150"/>
            <a:ext cx="2476500" cy="819150"/>
          </a:xfrm>
          <a:prstGeom prst="roundRect">
            <a:avLst>
              <a:gd name="adj" fmla="val 9302"/>
            </a:avLst>
          </a:prstGeom>
          <a:solidFill>
            <a:srgbClr val="EAF7F5"/>
          </a:solidFill>
          <a:ln w="11430">
            <a:solidFill>
              <a:srgbClr val="178277"/>
            </a:solidFill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Investigators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091F47-700C-4B55-B49F-9521987EC515}"/>
              </a:ext>
            </a:extLst>
          </p:cNvPr>
          <p:cNvSpPr>
            <a:spLocks noGrp="1"/>
          </p:cNvSpPr>
          <p:nvPr/>
        </p:nvSpPr>
        <p:spPr>
          <a:xfrm>
            <a:off x="8572500" y="2724150"/>
            <a:ext cx="2476500" cy="819150"/>
          </a:xfrm>
          <a:prstGeom prst="roundRect">
            <a:avLst>
              <a:gd name="adj" fmla="val 9302"/>
            </a:avLst>
          </a:prstGeom>
          <a:solidFill>
            <a:srgbClr val="FFF6E6"/>
          </a:solidFill>
          <a:ln w="11430">
            <a:solidFill>
              <a:srgbClr val="B7791F"/>
            </a:solidFill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Cyber Officers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BC3D57-7E85-4567-AB3E-C0BDE6B0DA5B}"/>
              </a:ext>
            </a:extLst>
          </p:cNvPr>
          <p:cNvSpPr>
            <a:spLocks noGrp="1"/>
          </p:cNvSpPr>
          <p:nvPr/>
        </p:nvSpPr>
        <p:spPr>
          <a:xfrm>
            <a:off x="1190625" y="4267200"/>
            <a:ext cx="9334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lnSpc>
                <a:spcPct val="112000"/>
              </a:lnSpc>
              <a:buNone/>
              <a:defRPr sz="195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950" b="0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Manage cyber-crime cases and assignments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950" b="0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Upload and verify digital evidence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950" b="0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Run explicit AI analysis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950" b="0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Create reviewed investigation reports</a:t>
            </a:r>
          </a:p>
        </p:txBody>
      </p:sp>
    </p:spTree>
    <p:extLst>
      <p:ext uri="{BB962C8B-B14F-4D97-AF65-F5344CB8AC3E}">
        <p14:creationId xmlns:p14="http://schemas.microsoft.com/office/powerpoint/2010/main" val="918506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7CBD723-9EAB-4895-A03A-6C64B67AEBC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Problem Statement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FEEFFCF2-ACB3-4701-AF08-97976E7D18EF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944E8E-70C0-4698-B662-6F65A6087270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2E7ED6-5C0A-4961-BF63-D18B1F45F2D3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4CAC44-6DC9-4E82-995F-FD2A166F9F90}"/>
              </a:ext>
            </a:extLst>
          </p:cNvPr>
          <p:cNvSpPr>
            <a:spLocks noGrp="1"/>
          </p:cNvSpPr>
          <p:nvPr/>
        </p:nvSpPr>
        <p:spPr>
          <a:xfrm>
            <a:off x="933450" y="1314450"/>
            <a:ext cx="103251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</p:spPr>
        <p:txBody>
          <a:bodyPr anchor="ctr">
            <a:noAutofit/>
          </a:bodyPr>
          <a:lstStyle/>
          <a:p>
            <a:pPr algn="ctr">
              <a:defRPr sz="21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1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Manual or scattered investigation records make it difficult to preserve evidence integrity, role accountability and report traceability during cyber-crime case handling.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0EA5B6-C6A1-4A44-B160-6AAACF2D83C2}"/>
              </a:ext>
            </a:extLst>
          </p:cNvPr>
          <p:cNvSpPr>
            <a:spLocks noGrp="1"/>
          </p:cNvSpPr>
          <p:nvPr/>
        </p:nvSpPr>
        <p:spPr>
          <a:xfrm>
            <a:off x="1619250" y="3143250"/>
            <a:ext cx="8572500" cy="1905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Evidence files need reliable metadata and SHA-256 fingerprints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Sensitive evidence must stay protected during preview, download and AI preparation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Case status changes need controlled transitions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Reports need review, approval, publication and audit history</a:t>
            </a:r>
          </a:p>
        </p:txBody>
      </p:sp>
    </p:spTree>
    <p:extLst>
      <p:ext uri="{BB962C8B-B14F-4D97-AF65-F5344CB8AC3E}">
        <p14:creationId xmlns:p14="http://schemas.microsoft.com/office/powerpoint/2010/main" val="357343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DBF6EA0-13B0-4F92-8122-A4D60FBBAFE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Objectives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B4F8F003-44E6-459E-8E15-C3140925DA47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97544A-94B9-4452-9448-EEFFDE567503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A5EB17-2212-453C-B0A8-3180A403697A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DE82F8-D479-4271-BF69-96AE7B87B8FE}"/>
              </a:ext>
            </a:extLst>
          </p:cNvPr>
          <p:cNvSpPr>
            <a:spLocks noGrp="1"/>
          </p:cNvSpPr>
          <p:nvPr/>
        </p:nvSpPr>
        <p:spPr>
          <a:xfrm>
            <a:off x="1285875" y="1381125"/>
            <a:ext cx="9525000" cy="3619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lnSpc>
                <a:spcPct val="112000"/>
              </a:lnSpc>
              <a:buNone/>
              <a:defRPr sz="1875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Provide role-based access</a:t>
            </a: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Track case assignment and closure</a:t>
            </a: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Store encrypted evidence with SHA-256 checks</a:t>
            </a: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Support explicit AI-assisted analysis</a:t>
            </a: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Control report review and publication</a:t>
            </a: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75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Show searchable role dashboards</a:t>
            </a:r>
          </a:p>
        </p:txBody>
      </p:sp>
    </p:spTree>
    <p:extLst>
      <p:ext uri="{BB962C8B-B14F-4D97-AF65-F5344CB8AC3E}">
        <p14:creationId xmlns:p14="http://schemas.microsoft.com/office/powerpoint/2010/main" val="1565417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D9F22AC-A97D-425D-9B4B-5B3DEB81970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Existing vs Proposed System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AE90B93F-2136-48DC-8E19-503B48BD6D15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25EAE6-2A10-4141-9C10-BF2268ACA80D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AAD998-D211-4F56-AB8A-B8D6ECEC892B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06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742950" y="1285875"/>
          <a:ext cx="10668000" cy="37147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Aspect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Existing / Manual Approach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AIDEX Proposed System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Case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Separate notes or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Central case records with status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Evidence integrity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Manual filename and storage checks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SHA-256 fingerprints, validation and encrypted storage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Access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Hard to separate responsibilities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Administrator, Investigator and Cyber Officer roles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Analysis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Manual review without reuse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Explicit AI analysis records with cache and review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Document drafts without system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Report lifecycle with audit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5087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B4ADB5-5473-427B-9148-04796DFB7F5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Technology Stack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E224DC79-3A81-492F-91B8-2A8B46C34F06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888A15-2725-4929-A093-A99B0D227D69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29477A-0FD4-4D6A-A959-6FA2F371AD16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07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914400" y="1381125"/>
          <a:ext cx="10287000" cy="363855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Layer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Technologies detected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Django 6, Python 3.12+, Gunicorn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Frontend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HTML templates, CSS, JavaScript, Bootstrap Icons, Chart.js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SQLite for development, MySQL option via settings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AI and extraction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google-genai, OpenRouter-compatible provider, Pillow, pytesseract, OpenCV, pypdf, python-docx, openpyxl, python-pptx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Security utilities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cryptography for AES-256-GCM evidence storage, SHA-256 hashing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7048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718B248-DE88-49F0-A021-55E825C42B9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System Architecture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AC586D14-C1F6-47DD-BBC7-9794BD70FD43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43EA28-A5B3-4D23-B9CC-89C4C725F3B5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67D138-804F-4150-A72E-E45C513BEB2D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08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F6BA606-A267-4C67-B35C-EBD1CA4562F3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1809750" cy="762000"/>
          </a:xfrm>
          <a:prstGeom prst="roundRect">
            <a:avLst>
              <a:gd name="adj" fmla="val 10000"/>
            </a:avLst>
          </a:prstGeom>
          <a:solidFill>
            <a:srgbClr val="EAF4FA"/>
          </a:solidFill>
          <a:ln w="11430">
            <a:solidFill>
              <a:srgbClr val="1F5D8C"/>
            </a:solidFill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Browser</a:t>
            </a:r>
          </a:p>
          <a:p>
            <a:pPr algn="ctr">
              <a:defRPr sz="15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HTML, CSS, JS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9EF5D5F-BC28-4971-A416-BD96F6468108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20002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1F5D8C"/>
            </a:solidFill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Django URLs</a:t>
            </a:r>
          </a:p>
          <a:p>
            <a:pPr algn="ctr">
              <a:defRPr sz="15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Views and Forms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477327-A661-4C2F-A9A8-7F8DD41F9791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2952750" cy="1143000"/>
          </a:xfrm>
          <a:prstGeom prst="roundRect">
            <a:avLst>
              <a:gd name="adj" fmla="val 6667"/>
            </a:avLst>
          </a:prstGeom>
          <a:solidFill>
            <a:srgbClr val="EAF7F5"/>
          </a:solidFill>
          <a:ln w="11430">
            <a:solidFill>
              <a:srgbClr val="178277"/>
            </a:solidFill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Application Modules</a:t>
            </a:r>
          </a:p>
          <a:p>
            <a:pPr algn="ctr">
              <a:defRPr sz="142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Accounts, Cases, Evidence, AI, Reports, Dashboard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FBCBB21-8E7A-407F-8358-3679CAB496C0}"/>
              </a:ext>
            </a:extLst>
          </p:cNvPr>
          <p:cNvSpPr>
            <a:spLocks noGrp="1"/>
          </p:cNvSpPr>
          <p:nvPr/>
        </p:nvSpPr>
        <p:spPr>
          <a:xfrm>
            <a:off x="9810750" y="1809750"/>
            <a:ext cx="1619250" cy="762000"/>
          </a:xfrm>
          <a:prstGeom prst="roundRect">
            <a:avLst>
              <a:gd name="adj" fmla="val 10000"/>
            </a:avLst>
          </a:prstGeom>
          <a:solidFill>
            <a:srgbClr val="FFF6E6"/>
          </a:solidFill>
          <a:ln w="11430">
            <a:solidFill>
              <a:srgbClr val="B7791F"/>
            </a:solidFill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SQLite / MySQL</a:t>
            </a:r>
          </a:p>
          <a:p>
            <a:pPr algn="ctr">
              <a:defRPr sz="142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Django Models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AEBE38-A20D-4B3B-ADFC-A1382188AAC8}"/>
              </a:ext>
            </a:extLst>
          </p:cNvPr>
          <p:cNvSpPr>
            <a:spLocks noGrp="1"/>
          </p:cNvSpPr>
          <p:nvPr/>
        </p:nvSpPr>
        <p:spPr>
          <a:xfrm>
            <a:off x="2809875" y="3905250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Protected Media</a:t>
            </a:r>
          </a:p>
          <a:p>
            <a:pPr algn="ctr">
              <a:defRPr sz="142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Encrypted evidence files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5DC977E-076F-4F54-931B-4A158D5F7099}"/>
              </a:ext>
            </a:extLst>
          </p:cNvPr>
          <p:cNvSpPr>
            <a:spLocks noGrp="1"/>
          </p:cNvSpPr>
          <p:nvPr/>
        </p:nvSpPr>
        <p:spPr>
          <a:xfrm>
            <a:off x="6858000" y="3905250"/>
            <a:ext cx="2428875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</p:spPr>
        <p:txBody>
          <a:bodyPr anchor="ctr">
            <a:noAutofit/>
          </a:bodyPr>
          <a:lstStyle/>
          <a:p>
            <a:pPr algn="ctr">
              <a:defRPr sz="142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External AI Provider</a:t>
            </a:r>
          </a:p>
          <a:p>
            <a:pPr algn="ctr">
              <a:defRPr sz="142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Gemini or OpenRouter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B13A549-3916-4B34-A502-8E1F309E1B39}"/>
              </a:ext>
            </a:extLst>
          </p:cNvPr>
          <p:cNvSpPr>
            <a:spLocks noGrp="1"/>
          </p:cNvSpPr>
          <p:nvPr/>
        </p:nvSpPr>
        <p:spPr>
          <a:xfrm>
            <a:off x="2667000" y="2190750"/>
            <a:ext cx="762000" cy="0"/>
          </a:xfrm>
          <a:prstGeom prst="line">
            <a:avLst/>
          </a:prstGeom>
          <a:noFill/>
          <a:ln w="19050">
            <a:solidFill>
              <a:srgbClr val="5A6575"/>
            </a:solidFill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E60DE3C7-80CB-41A2-8651-649D724158C9}"/>
              </a:ext>
            </a:extLst>
          </p:cNvPr>
          <p:cNvSpPr>
            <a:spLocks noGrp="1"/>
          </p:cNvSpPr>
          <p:nvPr/>
        </p:nvSpPr>
        <p:spPr>
          <a:xfrm>
            <a:off x="5429250" y="2190750"/>
            <a:ext cx="762000" cy="0"/>
          </a:xfrm>
          <a:prstGeom prst="line">
            <a:avLst/>
          </a:prstGeom>
          <a:noFill/>
          <a:ln w="19050">
            <a:solidFill>
              <a:srgbClr val="5A6575"/>
            </a:solidFill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AC1B30BD-382D-4C65-8BE4-DD27755C7666}"/>
              </a:ext>
            </a:extLst>
          </p:cNvPr>
          <p:cNvSpPr>
            <a:spLocks noGrp="1"/>
          </p:cNvSpPr>
          <p:nvPr/>
        </p:nvSpPr>
        <p:spPr>
          <a:xfrm>
            <a:off x="9144000" y="2190750"/>
            <a:ext cx="666750" cy="0"/>
          </a:xfrm>
          <a:prstGeom prst="line">
            <a:avLst/>
          </a:prstGeom>
          <a:noFill/>
          <a:ln w="19050">
            <a:solidFill>
              <a:srgbClr val="5A6575"/>
            </a:solidFill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F632F953-6124-4B11-B7C7-F992DB54B176}"/>
              </a:ext>
            </a:extLst>
          </p:cNvPr>
          <p:cNvSpPr>
            <a:spLocks noGrp="1"/>
          </p:cNvSpPr>
          <p:nvPr/>
        </p:nvSpPr>
        <p:spPr>
          <a:xfrm>
            <a:off x="5143500" y="4286250"/>
            <a:ext cx="1714500" cy="0"/>
          </a:xfrm>
          <a:prstGeom prst="line">
            <a:avLst/>
          </a:prstGeom>
          <a:noFill/>
          <a:ln w="19050">
            <a:solidFill>
              <a:srgbClr val="5A6575"/>
            </a:solidFill>
          </a:ln>
        </p:spPr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4D769F32-829B-43EF-B8A3-2C6EF90DEF5C}"/>
              </a:ext>
            </a:extLst>
          </p:cNvPr>
          <p:cNvSpPr>
            <a:spLocks noGrp="1"/>
          </p:cNvSpPr>
          <p:nvPr/>
        </p:nvSpPr>
        <p:spPr>
          <a:xfrm>
            <a:off x="7667625" y="2781300"/>
            <a:ext cx="0" cy="0"/>
          </a:xfrm>
          <a:prstGeom prst="line">
            <a:avLst/>
          </a:prstGeom>
          <a:noFill/>
          <a:ln w="19050">
            <a:solidFill>
              <a:srgbClr val="5A6575"/>
            </a:solidFill>
          </a:ln>
        </p:spPr>
      </p:sp>
    </p:spTree>
    <p:extLst>
      <p:ext uri="{BB962C8B-B14F-4D97-AF65-F5344CB8AC3E}">
        <p14:creationId xmlns:p14="http://schemas.microsoft.com/office/powerpoint/2010/main" val="41326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1187D9A-2058-4E60-A307-D65747BF99E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Modules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7211D42-D3C6-4824-BEFD-05894B647F4A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6946B9-D6C0-4DA2-9728-4D157EF6EBE6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2287D3-5526-485C-8D1C-675A11F8B6D3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09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819150" y="1257300"/>
          <a:ext cx="10553700" cy="4095749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107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Module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Actual responsibility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Custom user model, registration, login, password reset,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Dashboard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Role dashboards with chart-ready case, evidence and report data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Case creation, assignment, status update, archive and restore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Evidence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Upload, validation, encrypted storage, verification and download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AI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Evidence analysis, OCR/extraction, provider execution, review and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Reports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Draft, review, approve, reject, publish, archive, restore and revise reports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857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E520D7-A407-47B2-8625-F52CAFC3D25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Key Features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34445FEA-1AAA-4FDE-AAC6-2072EC56CBB0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4F5F7D-2287-4EDA-B650-614CB3D98941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92EB44-8EB8-4045-AC09-561F91380059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AAFFA6-45E7-4156-95A8-74D2550DB405}"/>
              </a:ext>
            </a:extLst>
          </p:cNvPr>
          <p:cNvSpPr>
            <a:spLocks noGrp="1"/>
          </p:cNvSpPr>
          <p:nvPr/>
        </p:nvSpPr>
        <p:spPr>
          <a:xfrm>
            <a:off x="904875" y="1200150"/>
            <a:ext cx="10191750" cy="404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lnSpc>
                <a:spcPct val="112000"/>
              </a:lnSpc>
              <a:buNone/>
              <a:defRPr sz="195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950" b="0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Role-aware access for three user types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950" b="0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Case assignment with controlled status changes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950" b="0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Evidence validation before storage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950" b="0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AES-256-GCM storage with SHA-256 checks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950" b="0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AI analysis with review and retries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950" b="0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Report approval and publication flow</a:t>
            </a:r>
          </a:p>
        </p:txBody>
      </p:sp>
    </p:spTree>
    <p:extLst>
      <p:ext uri="{BB962C8B-B14F-4D97-AF65-F5344CB8AC3E}">
        <p14:creationId xmlns:p14="http://schemas.microsoft.com/office/powerpoint/2010/main" val="1494727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0A67B50-C9BE-4C58-996A-9265A181BF1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Database / ER Diagram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9F7D58C9-3C1D-49BF-8DDC-377C38F2E398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7EC62D-570F-4041-965A-F61D59A3A795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491AA6-465F-44B0-94F0-D84CF759A90C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11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AF6B59F-956B-418F-9F91-9436AF890224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1666875" cy="742950"/>
          </a:xfrm>
          <a:prstGeom prst="roundRect">
            <a:avLst>
              <a:gd name="adj" fmla="val 10256"/>
            </a:avLst>
          </a:prstGeom>
          <a:solidFill>
            <a:srgbClr val="EAF4FA"/>
          </a:solidFill>
          <a:ln w="11430">
            <a:solidFill>
              <a:srgbClr val="1F5D8C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User</a:t>
            </a:r>
          </a:p>
          <a:p>
            <a:pPr algn="ctr">
              <a:defRPr sz="135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accounts_user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E1C53A0-F969-4B14-B5FE-AAFF7190F8A1}"/>
              </a:ext>
            </a:extLst>
          </p:cNvPr>
          <p:cNvSpPr>
            <a:spLocks noGrp="1"/>
          </p:cNvSpPr>
          <p:nvPr/>
        </p:nvSpPr>
        <p:spPr>
          <a:xfrm>
            <a:off x="3143250" y="1809750"/>
            <a:ext cx="1666875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1F5D8C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Case</a:t>
            </a:r>
          </a:p>
          <a:p>
            <a:pPr algn="ctr">
              <a:defRPr sz="135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aidex_cases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F7D5958-A204-4864-8DEF-F57575FDED1A}"/>
              </a:ext>
            </a:extLst>
          </p:cNvPr>
          <p:cNvSpPr>
            <a:spLocks noGrp="1"/>
          </p:cNvSpPr>
          <p:nvPr/>
        </p:nvSpPr>
        <p:spPr>
          <a:xfrm>
            <a:off x="5524500" y="1809750"/>
            <a:ext cx="1762125" cy="742950"/>
          </a:xfrm>
          <a:prstGeom prst="roundRect">
            <a:avLst>
              <a:gd name="adj" fmla="val 10256"/>
            </a:avLst>
          </a:prstGeom>
          <a:solidFill>
            <a:srgbClr val="EAF7F5"/>
          </a:solidFill>
          <a:ln w="11430">
            <a:solidFill>
              <a:srgbClr val="178277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Evidence</a:t>
            </a:r>
          </a:p>
          <a:p>
            <a:pPr algn="ctr">
              <a:defRPr sz="135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aidex_evidence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4EC04FF-3256-49D9-A98E-8BFD0DF9EBCF}"/>
              </a:ext>
            </a:extLst>
          </p:cNvPr>
          <p:cNvSpPr>
            <a:spLocks noGrp="1"/>
          </p:cNvSpPr>
          <p:nvPr/>
        </p:nvSpPr>
        <p:spPr>
          <a:xfrm>
            <a:off x="8001000" y="1809750"/>
            <a:ext cx="200025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178277"/>
            </a:solidFill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AIAnalysis</a:t>
            </a:r>
          </a:p>
          <a:p>
            <a:pPr algn="ctr">
              <a:defRPr sz="135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aidex_ai_analysis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D39DD25-3A84-4721-BCF7-207E0FF68F9E}"/>
              </a:ext>
            </a:extLst>
          </p:cNvPr>
          <p:cNvSpPr>
            <a:spLocks noGrp="1"/>
          </p:cNvSpPr>
          <p:nvPr/>
        </p:nvSpPr>
        <p:spPr>
          <a:xfrm>
            <a:off x="8001000" y="3190875"/>
            <a:ext cx="200025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AIAnalysisLog</a:t>
            </a:r>
          </a:p>
          <a:p>
            <a:pPr algn="ctr">
              <a:defRPr sz="127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aidex_ai_analysis_logs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EA605D-07C0-4B1F-A0FC-8834695CF92B}"/>
              </a:ext>
            </a:extLst>
          </p:cNvPr>
          <p:cNvSpPr>
            <a:spLocks noGrp="1"/>
          </p:cNvSpPr>
          <p:nvPr/>
        </p:nvSpPr>
        <p:spPr>
          <a:xfrm>
            <a:off x="3143250" y="3905250"/>
            <a:ext cx="2333625" cy="742950"/>
          </a:xfrm>
          <a:prstGeom prst="roundRect">
            <a:avLst>
              <a:gd name="adj" fmla="val 10256"/>
            </a:avLst>
          </a:prstGeom>
          <a:solidFill>
            <a:srgbClr val="FFF6E6"/>
          </a:solidFill>
          <a:ln w="11430">
            <a:solidFill>
              <a:srgbClr val="B7791F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Report</a:t>
            </a:r>
          </a:p>
          <a:p>
            <a:pPr algn="ctr">
              <a:defRPr sz="127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aidex_investigation_reports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698F8CC-DEB8-4C6C-A9DE-73E59F74808A}"/>
              </a:ext>
            </a:extLst>
          </p:cNvPr>
          <p:cNvSpPr>
            <a:spLocks noGrp="1"/>
          </p:cNvSpPr>
          <p:nvPr/>
        </p:nvSpPr>
        <p:spPr>
          <a:xfrm>
            <a:off x="6143625" y="3905250"/>
            <a:ext cx="2333625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ReportAuditLog</a:t>
            </a:r>
          </a:p>
          <a:p>
            <a:pPr algn="ctr">
              <a:defRPr sz="1275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aidex_report_audit_logs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F23969-DD21-4E86-BD68-857C22ED205A}"/>
              </a:ext>
            </a:extLst>
          </p:cNvPr>
          <p:cNvSpPr>
            <a:spLocks noGrp="1"/>
          </p:cNvSpPr>
          <p:nvPr/>
        </p:nvSpPr>
        <p:spPr>
          <a:xfrm>
            <a:off x="762000" y="5095875"/>
            <a:ext cx="9906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User creates and is assigned to cases</a:t>
            </a: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Case owns evidence and reports</a:t>
            </a: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Evidence owns AI analyses</a:t>
            </a: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Reports reference evidence and reviewed AI analyses</a:t>
            </a:r>
          </a:p>
        </p:txBody>
      </p:sp>
    </p:spTree>
    <p:extLst>
      <p:ext uri="{BB962C8B-B14F-4D97-AF65-F5344CB8AC3E}">
        <p14:creationId xmlns:p14="http://schemas.microsoft.com/office/powerpoint/2010/main" val="664470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02F74C7-44EC-4395-9E67-08A54F36033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Database Design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E19755EA-3A96-4761-9074-FED0C1CF6E10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397A25-3B0F-4296-9F77-5FF2EEC58A4E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EB3FB4-5CF4-4021-A686-6BF9DAD05607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12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914400" y="1219200"/>
          <a:ext cx="10363200" cy="3857623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108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Entity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Key attributes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accounts_user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id, username, email, badge_id, role, account_status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aidex_cases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case_number, case_title, crime_category, priority, status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aidex_evidence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title, type, file metadata, sha256_hash, verification_status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aidex_ai_analysis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analysis_number, provider, model_name, status, threat_level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aidex_investigation_reports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report_number, version, status, file_sha256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audit logs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event type, actor, status changes and metadata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7202AE8-71C6-47C7-A561-467A63E0479B}"/>
              </a:ext>
            </a:extLst>
          </p:cNvPr>
          <p:cNvSpPr>
            <a:spLocks noGrp="1"/>
          </p:cNvSpPr>
          <p:nvPr/>
        </p:nvSpPr>
        <p:spPr>
          <a:xfrm>
            <a:off x="1047750" y="5476875"/>
            <a:ext cx="10096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Legend: id fields act as primary keys. SHA-256 values support evidence and report integrity checks.</a:t>
            </a:r>
          </a:p>
        </p:txBody>
      </p:sp>
    </p:spTree>
    <p:extLst>
      <p:ext uri="{BB962C8B-B14F-4D97-AF65-F5344CB8AC3E}">
        <p14:creationId xmlns:p14="http://schemas.microsoft.com/office/powerpoint/2010/main" val="2012491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789761-2EE4-48BD-B7B5-C3D9048DD99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Database Relationships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9C46459D-2E8A-461B-8A31-7845F801882E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3BE438-F98D-40FF-945C-89762C1EA052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CA2ADC-991C-4363-BF68-F8B97D5B1791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13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914400" y="1219200"/>
          <a:ext cx="10363200" cy="3857623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108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Relationship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Meaning in AIDEX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User to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Users create cases and investigators receive assignments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Case to Evidence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One case contains multiple evidence records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Evidence to AIAnalysis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One evidence record can have multiple analysis 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Case to Report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One case can have multiple investigation report versions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Report to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Reports link selected evidence through a many-to-many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108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Report to AIAnalysis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Reports link reviewed AI findings through a many-to-many table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9FB437D-99AB-4DA8-A910-8F8A167E0C4A}"/>
              </a:ext>
            </a:extLst>
          </p:cNvPr>
          <p:cNvSpPr>
            <a:spLocks noGrp="1"/>
          </p:cNvSpPr>
          <p:nvPr/>
        </p:nvSpPr>
        <p:spPr>
          <a:xfrm>
            <a:off x="1238250" y="5476875"/>
            <a:ext cx="9715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Audit-log tables preserve workflow history for AI analysis and report actions.</a:t>
            </a:r>
          </a:p>
        </p:txBody>
      </p:sp>
    </p:spTree>
    <p:extLst>
      <p:ext uri="{BB962C8B-B14F-4D97-AF65-F5344CB8AC3E}">
        <p14:creationId xmlns:p14="http://schemas.microsoft.com/office/powerpoint/2010/main" val="41780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E6D80C8-629A-4926-9BA3-ACAD4120889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User Workflow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D3FE7A2B-FE3D-436D-9382-DB60233839FC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C1F5C7-A7C6-412B-B162-5376C566044B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7AB6CF-75BE-4C72-9CC4-14BD96CE5984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14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4FC999-7E5E-4184-B7B1-A9A926A11287}"/>
              </a:ext>
            </a:extLst>
          </p:cNvPr>
          <p:cNvSpPr>
            <a:spLocks noGrp="1"/>
          </p:cNvSpPr>
          <p:nvPr/>
        </p:nvSpPr>
        <p:spPr>
          <a:xfrm>
            <a:off x="762000" y="1381125"/>
            <a:ext cx="2857500" cy="904875"/>
          </a:xfrm>
          <a:prstGeom prst="roundRect">
            <a:avLst>
              <a:gd name="adj" fmla="val 8421"/>
            </a:avLst>
          </a:prstGeom>
          <a:solidFill>
            <a:srgbClr val="EAF4FA"/>
          </a:solidFill>
          <a:ln w="11430">
            <a:solidFill>
              <a:srgbClr val="1F5D8C"/>
            </a:solidFill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1. Login</a:t>
            </a:r>
          </a:p>
          <a:p>
            <a:pPr algn="ctr">
              <a:defRPr sz="15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Account status and role checked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3525099-8942-4907-9CA2-AC232BC8E766}"/>
              </a:ext>
            </a:extLst>
          </p:cNvPr>
          <p:cNvSpPr>
            <a:spLocks noGrp="1"/>
          </p:cNvSpPr>
          <p:nvPr/>
        </p:nvSpPr>
        <p:spPr>
          <a:xfrm>
            <a:off x="4476750" y="1381125"/>
            <a:ext cx="2857500" cy="904875"/>
          </a:xfrm>
          <a:prstGeom prst="roundRect">
            <a:avLst>
              <a:gd name="adj" fmla="val 8421"/>
            </a:avLst>
          </a:prstGeom>
          <a:solidFill>
            <a:srgbClr val="EAF7F5"/>
          </a:solidFill>
          <a:ln w="11430">
            <a:solidFill>
              <a:srgbClr val="178277"/>
            </a:solidFill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2. Dashboard</a:t>
            </a:r>
          </a:p>
          <a:p>
            <a:pPr algn="ctr">
              <a:defRPr sz="15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Role-specific overview and actions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383491A-9BA8-4BD9-9A7C-FA5D41D94305}"/>
              </a:ext>
            </a:extLst>
          </p:cNvPr>
          <p:cNvSpPr>
            <a:spLocks noGrp="1"/>
          </p:cNvSpPr>
          <p:nvPr/>
        </p:nvSpPr>
        <p:spPr>
          <a:xfrm>
            <a:off x="8191500" y="1381125"/>
            <a:ext cx="2857500" cy="904875"/>
          </a:xfrm>
          <a:prstGeom prst="roundRect">
            <a:avLst>
              <a:gd name="adj" fmla="val 8421"/>
            </a:avLst>
          </a:prstGeom>
          <a:solidFill>
            <a:srgbClr val="EAF4FA"/>
          </a:solidFill>
          <a:ln w="11430">
            <a:solidFill>
              <a:srgbClr val="1F5D8C"/>
            </a:solidFill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3. Case</a:t>
            </a:r>
          </a:p>
          <a:p>
            <a:pPr algn="ctr">
              <a:defRPr sz="15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Create, assign and update status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626DAAE-9435-4022-8C5A-D078D6F2FBE5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2857500" cy="904875"/>
          </a:xfrm>
          <a:prstGeom prst="roundRect">
            <a:avLst>
              <a:gd name="adj" fmla="val 8421"/>
            </a:avLst>
          </a:prstGeom>
          <a:solidFill>
            <a:srgbClr val="EAF7F5"/>
          </a:solidFill>
          <a:ln w="11430">
            <a:solidFill>
              <a:srgbClr val="178277"/>
            </a:solidFill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4. Evidence</a:t>
            </a:r>
          </a:p>
          <a:p>
            <a:pPr algn="ctr">
              <a:defRPr sz="15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Upload, validate, hash and verify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4F9002D-8559-4B66-B44C-5DD3103C3420}"/>
              </a:ext>
            </a:extLst>
          </p:cNvPr>
          <p:cNvSpPr>
            <a:spLocks noGrp="1"/>
          </p:cNvSpPr>
          <p:nvPr/>
        </p:nvSpPr>
        <p:spPr>
          <a:xfrm>
            <a:off x="4476750" y="3143250"/>
            <a:ext cx="2857500" cy="904875"/>
          </a:xfrm>
          <a:prstGeom prst="roundRect">
            <a:avLst>
              <a:gd name="adj" fmla="val 8421"/>
            </a:avLst>
          </a:prstGeom>
          <a:solidFill>
            <a:srgbClr val="EAF4FA"/>
          </a:solidFill>
          <a:ln w="11430">
            <a:solidFill>
              <a:srgbClr val="1F5D8C"/>
            </a:solidFill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5. AI Analysis</a:t>
            </a:r>
          </a:p>
          <a:p>
            <a:pPr algn="ctr">
              <a:defRPr sz="15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Run explicit analysis and review output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1F5A3D2-BB56-4397-A61D-EB7C4884A64B}"/>
              </a:ext>
            </a:extLst>
          </p:cNvPr>
          <p:cNvSpPr>
            <a:spLocks noGrp="1"/>
          </p:cNvSpPr>
          <p:nvPr/>
        </p:nvSpPr>
        <p:spPr>
          <a:xfrm>
            <a:off x="8191500" y="3143250"/>
            <a:ext cx="2857500" cy="904875"/>
          </a:xfrm>
          <a:prstGeom prst="roundRect">
            <a:avLst>
              <a:gd name="adj" fmla="val 8421"/>
            </a:avLst>
          </a:prstGeom>
          <a:solidFill>
            <a:srgbClr val="EAF7F5"/>
          </a:solidFill>
          <a:ln w="11430">
            <a:solidFill>
              <a:srgbClr val="178277"/>
            </a:solidFill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6. Report</a:t>
            </a:r>
          </a:p>
          <a:p>
            <a:pPr algn="ctr">
              <a:defRPr sz="15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Draft, review, approve and publish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1B5140-A1CC-4919-9470-5236A3F22A43}"/>
              </a:ext>
            </a:extLst>
          </p:cNvPr>
          <p:cNvSpPr>
            <a:spLocks noGrp="1"/>
          </p:cNvSpPr>
          <p:nvPr/>
        </p:nvSpPr>
        <p:spPr>
          <a:xfrm>
            <a:off x="1143000" y="5286375"/>
            <a:ext cx="9906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6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6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The workflow follows the actual application routes: account login, role dashboard, case management, evidence management, AI analysis and report lifecycle.</a:t>
            </a:r>
          </a:p>
        </p:txBody>
      </p:sp>
    </p:spTree>
    <p:extLst>
      <p:ext uri="{BB962C8B-B14F-4D97-AF65-F5344CB8AC3E}">
        <p14:creationId xmlns:p14="http://schemas.microsoft.com/office/powerpoint/2010/main" val="1359096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8102AE5-946F-441A-9E1D-49125A06B20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Application Screenshots Part 1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AA548D69-C7FF-4531-A2F7-BEF8FA04309B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D88A1B-E535-4166-8E8A-9B1F7B21170B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A6F82C-73DC-4FB5-85DB-D6D10F9EBB5B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15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56FB0B-3424-43AA-846E-87D5B664D0C0}"/>
              </a:ext>
            </a:extLst>
          </p:cNvPr>
          <p:cNvSpPr>
            <a:spLocks noGrp="1"/>
          </p:cNvSpPr>
          <p:nvPr/>
        </p:nvSpPr>
        <p:spPr>
          <a:xfrm>
            <a:off x="762000" y="1095375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25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Login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1381125"/>
            <a:ext cx="4953000" cy="3095625"/>
          </a:xfrm>
          <a:prstGeom prst="roundRect">
            <a:avLst>
              <a:gd name="adj" fmla="val 2462"/>
            </a:avLst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3B6FB9-4CF8-4E7A-83FE-4810CDBD0950}"/>
              </a:ext>
            </a:extLst>
          </p:cNvPr>
          <p:cNvSpPr>
            <a:spLocks noGrp="1"/>
          </p:cNvSpPr>
          <p:nvPr/>
        </p:nvSpPr>
        <p:spPr>
          <a:xfrm>
            <a:off x="762000" y="1381125"/>
            <a:ext cx="4953000" cy="3095625"/>
          </a:xfrm>
          <a:prstGeom prst="roundRect">
            <a:avLst>
              <a:gd name="adj" fmla="val 2462"/>
            </a:avLst>
          </a:prstGeom>
          <a:noFill/>
          <a:ln w="11430">
            <a:solidFill>
              <a:srgbClr val="D6DEE8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9ABB01-9A18-417F-8D35-BD07F7182D3B}"/>
              </a:ext>
            </a:extLst>
          </p:cNvPr>
          <p:cNvSpPr>
            <a:spLocks noGrp="1"/>
          </p:cNvSpPr>
          <p:nvPr/>
        </p:nvSpPr>
        <p:spPr>
          <a:xfrm>
            <a:off x="6477000" y="1095375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25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Admin Dashboard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77000" y="1381125"/>
            <a:ext cx="4953000" cy="3095625"/>
          </a:xfrm>
          <a:prstGeom prst="roundRect">
            <a:avLst>
              <a:gd name="adj" fmla="val 2462"/>
            </a:avLst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1354965-8D67-43BA-AE10-867EA79119FE}"/>
              </a:ext>
            </a:extLst>
          </p:cNvPr>
          <p:cNvSpPr>
            <a:spLocks noGrp="1"/>
          </p:cNvSpPr>
          <p:nvPr/>
        </p:nvSpPr>
        <p:spPr>
          <a:xfrm>
            <a:off x="6477000" y="1381125"/>
            <a:ext cx="4953000" cy="3095625"/>
          </a:xfrm>
          <a:prstGeom prst="roundRect">
            <a:avLst>
              <a:gd name="adj" fmla="val 2462"/>
            </a:avLst>
          </a:prstGeom>
          <a:noFill/>
          <a:ln w="11430">
            <a:solidFill>
              <a:srgbClr val="D6DEE8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37B2F1-BF7C-4088-A60F-5D03632BE4D0}"/>
              </a:ext>
            </a:extLst>
          </p:cNvPr>
          <p:cNvSpPr>
            <a:spLocks noGrp="1"/>
          </p:cNvSpPr>
          <p:nvPr/>
        </p:nvSpPr>
        <p:spPr>
          <a:xfrm>
            <a:off x="1714500" y="5095875"/>
            <a:ext cx="8572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Login is the authentication entry point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Administrator dashboard shows module shortcuts</a:t>
            </a:r>
          </a:p>
        </p:txBody>
      </p:sp>
    </p:spTree>
    <p:extLst>
      <p:ext uri="{BB962C8B-B14F-4D97-AF65-F5344CB8AC3E}">
        <p14:creationId xmlns:p14="http://schemas.microsoft.com/office/powerpoint/2010/main" val="35211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7494DC1-297F-46A9-9F8C-2AB1D6A56CB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Application Screenshots Part 2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7A113DAA-F4E7-477B-9DC3-FEB1F39D6631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3962EA-595B-4C78-87F9-0740A61FFCB2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68FF35-7E83-470F-BB9B-810B9AA8B5F0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2B3648-978D-4E10-AAC8-E80882369AC1}"/>
              </a:ext>
            </a:extLst>
          </p:cNvPr>
          <p:cNvSpPr>
            <a:spLocks noGrp="1"/>
          </p:cNvSpPr>
          <p:nvPr/>
        </p:nvSpPr>
        <p:spPr>
          <a:xfrm>
            <a:off x="762000" y="1114425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Case Detail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1381125"/>
            <a:ext cx="4953000" cy="3095625"/>
          </a:xfrm>
          <a:prstGeom prst="roundRect">
            <a:avLst>
              <a:gd name="adj" fmla="val 2462"/>
            </a:avLst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1CF3DCD-8BC0-4CB3-951C-B912AA2270FB}"/>
              </a:ext>
            </a:extLst>
          </p:cNvPr>
          <p:cNvSpPr>
            <a:spLocks noGrp="1"/>
          </p:cNvSpPr>
          <p:nvPr/>
        </p:nvSpPr>
        <p:spPr>
          <a:xfrm>
            <a:off x="6477000" y="1114425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Evidence Detail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77000" y="1381125"/>
            <a:ext cx="4953000" cy="3095625"/>
          </a:xfrm>
          <a:prstGeom prst="roundRect">
            <a:avLst>
              <a:gd name="adj" fmla="val 2462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3C2242E-8FD6-4597-B34D-D76FF7C8290A}"/>
              </a:ext>
            </a:extLst>
          </p:cNvPr>
          <p:cNvSpPr>
            <a:spLocks noGrp="1"/>
          </p:cNvSpPr>
          <p:nvPr/>
        </p:nvSpPr>
        <p:spPr>
          <a:xfrm>
            <a:off x="1619250" y="5095875"/>
            <a:ext cx="9048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Case detail shows assignment and status workflow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Evidence detail shows integrity metadata</a:t>
            </a:r>
          </a:p>
        </p:txBody>
      </p:sp>
    </p:spTree>
    <p:extLst>
      <p:ext uri="{BB962C8B-B14F-4D97-AF65-F5344CB8AC3E}">
        <p14:creationId xmlns:p14="http://schemas.microsoft.com/office/powerpoint/2010/main" val="660206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C2AA89D-D5F0-4026-A96F-CF1E6595A9D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Application Screenshots Part 3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F372B4BF-07D4-4E8A-8689-E94D98F13C35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54BA0E-5C26-4441-B566-F44069803FC0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7EF991-AB71-447A-AD85-2725E93482A0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17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2A1A06-3AAF-4D5D-B0FF-FB6B9B2E999C}"/>
              </a:ext>
            </a:extLst>
          </p:cNvPr>
          <p:cNvSpPr>
            <a:spLocks noGrp="1"/>
          </p:cNvSpPr>
          <p:nvPr/>
        </p:nvSpPr>
        <p:spPr>
          <a:xfrm>
            <a:off x="762000" y="11430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25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Report Register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t="769" b="769"/>
          <a:stretch>
            <a:fillRect/>
          </a:stretch>
        </p:blipFill>
        <p:spPr>
          <a:xfrm>
            <a:off x="762000" y="1428750"/>
            <a:ext cx="4953000" cy="3048000"/>
          </a:xfrm>
          <a:prstGeom prst="roundRect">
            <a:avLst>
              <a:gd name="adj" fmla="val 2500"/>
            </a:avLst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25D24B1-06EF-4177-9C96-3C5BD0630D64}"/>
              </a:ext>
            </a:extLst>
          </p:cNvPr>
          <p:cNvSpPr>
            <a:spLocks noGrp="1"/>
          </p:cNvSpPr>
          <p:nvPr/>
        </p:nvSpPr>
        <p:spPr>
          <a:xfrm>
            <a:off x="6477000" y="114300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25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Report Detail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rcRect t="769" b="769"/>
          <a:stretch>
            <a:fillRect/>
          </a:stretch>
        </p:blipFill>
        <p:spPr>
          <a:xfrm>
            <a:off x="6477000" y="1428750"/>
            <a:ext cx="4953000" cy="3048000"/>
          </a:xfrm>
          <a:prstGeom prst="roundRect">
            <a:avLst>
              <a:gd name="adj" fmla="val 2500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DF8416D-0447-4638-A260-F873B4B8CC8C}"/>
              </a:ext>
            </a:extLst>
          </p:cNvPr>
          <p:cNvSpPr>
            <a:spLocks noGrp="1"/>
          </p:cNvSpPr>
          <p:nvPr/>
        </p:nvSpPr>
        <p:spPr>
          <a:xfrm>
            <a:off x="1619250" y="5095875"/>
            <a:ext cx="9048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Report register shows searchable records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Report detail shows status and metadata</a:t>
            </a:r>
          </a:p>
        </p:txBody>
      </p:sp>
    </p:spTree>
    <p:extLst>
      <p:ext uri="{BB962C8B-B14F-4D97-AF65-F5344CB8AC3E}">
        <p14:creationId xmlns:p14="http://schemas.microsoft.com/office/powerpoint/2010/main" val="1658508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77157C-D914-49A7-A685-64576FAF667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AI / Intelligent Analysis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39660B52-9EA2-4D2D-9AED-7EEBEA4E4F84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C0D28B-F446-4C27-892A-3EB2EFD0E176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633AF0-0110-46EF-905F-89734E08E0CA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18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rcRect t="145" b="145"/>
          <a:stretch>
            <a:fillRect/>
          </a:stretch>
        </p:blipFill>
        <p:spPr>
          <a:xfrm>
            <a:off x="666750" y="1285875"/>
            <a:ext cx="6572250" cy="4095750"/>
          </a:xfrm>
          <a:prstGeom prst="roundRect">
            <a:avLst>
              <a:gd name="adj" fmla="val 1860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8B25E53-8844-467B-98C8-11A641FC378B}"/>
              </a:ext>
            </a:extLst>
          </p:cNvPr>
          <p:cNvSpPr>
            <a:spLocks noGrp="1"/>
          </p:cNvSpPr>
          <p:nvPr/>
        </p:nvSpPr>
        <p:spPr>
          <a:xfrm>
            <a:off x="7667625" y="1381125"/>
            <a:ext cx="34290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AI analysis works on uploaded evidence records. Users create a request, choose a provider and review the result before reporting.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8A32C4-EC1C-4BAB-A289-9058E8D4667C}"/>
              </a:ext>
            </a:extLst>
          </p:cNvPr>
          <p:cNvSpPr>
            <a:spLocks noGrp="1"/>
          </p:cNvSpPr>
          <p:nvPr/>
        </p:nvSpPr>
        <p:spPr>
          <a:xfrm>
            <a:off x="7667625" y="2905125"/>
            <a:ext cx="3476625" cy="2381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Providers: Gemini, OpenRouter-compatible and Local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Stores status, threat level and review fields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Supports retry, cancel, archive and restore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Extracts text from common document formats</a:t>
            </a:r>
          </a:p>
        </p:txBody>
      </p:sp>
    </p:spTree>
    <p:extLst>
      <p:ext uri="{BB962C8B-B14F-4D97-AF65-F5344CB8AC3E}">
        <p14:creationId xmlns:p14="http://schemas.microsoft.com/office/powerpoint/2010/main" val="15335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48228D-20AE-49CC-B004-EFBE95740A0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Testing &amp; Results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07B11CE-2C9D-4825-96C9-D5F3EDAEDFFA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6CA5D4-5241-4348-96D0-B07056D91238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7885A9-0A05-45FC-8C46-1D01A45B9448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19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F7CBEE-0A6E-46FB-A55C-3CC44769AFE9}"/>
              </a:ext>
            </a:extLst>
          </p:cNvPr>
          <p:cNvSpPr>
            <a:spLocks noGrp="1"/>
          </p:cNvSpPr>
          <p:nvPr/>
        </p:nvSpPr>
        <p:spPr>
          <a:xfrm>
            <a:off x="857250" y="1190625"/>
            <a:ext cx="102870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25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The automated Django test suite passed 79 tests. Django system checks reported no issues.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="857250" y="2333625"/>
          <a:ext cx="10477500" cy="3286122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446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Area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Important verified scenarios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446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Login lockout, counter reset, expired lock release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446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Cases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Assignment, role visibility, status transitions, archive and restore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446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AES-GCM storage, SHA-256 metadata, file-signature checks, secure download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446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AI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Provider selection, cache keys, retry, cancel, human review and safe errors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446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Review, approval, PDF publication gate, audit log and revisions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446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Dashboard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Role-based redirect and dashboard access protection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457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E4C8BA2-301C-479F-87C9-D66857A2F55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Security Implementation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FBCD9ACB-1717-42E0-8FE3-F8BFA1216C2A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3A7360-8695-4809-9AAE-6D530334D1E0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389B0A-B2FA-493F-B2A7-3D8EF33F3127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91D88F-5D6E-44B1-BB98-7B98428317F6}"/>
              </a:ext>
            </a:extLst>
          </p:cNvPr>
          <p:cNvSpPr>
            <a:spLocks noGrp="1"/>
          </p:cNvSpPr>
          <p:nvPr/>
        </p:nvSpPr>
        <p:spPr>
          <a:xfrm>
            <a:off x="857250" y="1190625"/>
            <a:ext cx="103822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1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AIDEX separates application roles from Django admin privileges and protects evidence files outside public media access.</a:t>
            </a:r>
          </a:p>
        </p:txBody>
      </p:sp>
      <p:graphicFrame>
        <p:nvGraphicFramePr>
          <p:cNvPr id="13" name="Table 12"/>
          <p:cNvGraphicFramePr/>
          <p:nvPr/>
        </p:nvGraphicFramePr>
        <p:xfrm>
          <a:off x="1000125" y="2333625"/>
          <a:ext cx="10191750" cy="2828925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Control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Implementation evidence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Role authorization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Administrator, Investigator and Cyber Officer checks in dashboards and module 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Login protection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Failed-login counter, temporary lock, password reset eligibility checks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Evidence protection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AES-256-GCM encrypted storage and protected media download route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Integrity and AI safety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SHA-256 fingerprints, explicit analysis runs and redacted provider errors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3601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29676F8-9603-40BE-B74D-408DEAA8C1D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AI Workflow Screens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C01575B6-611B-4824-BF0A-060996F6A61D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D07261-5C7E-4A51-A8EC-C39A022F9777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FC4153-6051-45D4-8E04-053A474735B6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21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82769B-DA97-488A-82B3-82C964D6040B}"/>
              </a:ext>
            </a:extLst>
          </p:cNvPr>
          <p:cNvSpPr>
            <a:spLocks noGrp="1"/>
          </p:cNvSpPr>
          <p:nvPr/>
        </p:nvSpPr>
        <p:spPr>
          <a:xfrm>
            <a:off x="762000" y="1114425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 Dashboard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1381125"/>
            <a:ext cx="4953000" cy="3095625"/>
          </a:xfrm>
          <a:prstGeom prst="roundRect">
            <a:avLst>
              <a:gd name="adj" fmla="val 2462"/>
            </a:avLst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C00F71A-4E9E-45BD-968D-100BF3F1B7DF}"/>
              </a:ext>
            </a:extLst>
          </p:cNvPr>
          <p:cNvSpPr>
            <a:spLocks noGrp="1"/>
          </p:cNvSpPr>
          <p:nvPr/>
        </p:nvSpPr>
        <p:spPr>
          <a:xfrm>
            <a:off x="6477000" y="1114425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Analysis Register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77000" y="1381125"/>
            <a:ext cx="4953000" cy="3095625"/>
          </a:xfrm>
          <a:prstGeom prst="roundRect">
            <a:avLst>
              <a:gd name="adj" fmla="val 2462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4FF0692-0749-4B33-8034-1498D1F66E36}"/>
              </a:ext>
            </a:extLst>
          </p:cNvPr>
          <p:cNvSpPr>
            <a:spLocks noGrp="1"/>
          </p:cNvSpPr>
          <p:nvPr/>
        </p:nvSpPr>
        <p:spPr>
          <a:xfrm>
            <a:off x="1143000" y="4810125"/>
            <a:ext cx="9906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95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95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The AI workflow moves from dashboard overview to the analysis register. The detailed reviewed record appears on the previous slide.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AAB750-10C5-4C1C-AB03-C39D662BDA76}"/>
              </a:ext>
            </a:extLst>
          </p:cNvPr>
          <p:cNvSpPr>
            <a:spLocks noGrp="1"/>
          </p:cNvSpPr>
          <p:nvPr/>
        </p:nvSpPr>
        <p:spPr>
          <a:xfrm>
            <a:off x="2047875" y="5572125"/>
            <a:ext cx="8096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Screens use local demo data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No API key exposure is shown</a:t>
            </a:r>
          </a:p>
        </p:txBody>
      </p:sp>
    </p:spTree>
    <p:extLst>
      <p:ext uri="{BB962C8B-B14F-4D97-AF65-F5344CB8AC3E}">
        <p14:creationId xmlns:p14="http://schemas.microsoft.com/office/powerpoint/2010/main" val="20780263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4BA7FA-BDFB-4362-AB1A-2981AA676C4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Deployment &amp; Run Process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D5CDA2EC-8ACC-4C8E-91BD-E6D15E910CE2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BE8DB5-4204-4B12-B8A1-8180116153B7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F1B981-45C2-4C07-AED5-4AC00EEE5368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22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3DA7D4-D0DA-4042-B535-3E38257FE64C}"/>
              </a:ext>
            </a:extLst>
          </p:cNvPr>
          <p:cNvSpPr>
            <a:spLocks noGrp="1"/>
          </p:cNvSpPr>
          <p:nvPr/>
        </p:nvSpPr>
        <p:spPr>
          <a:xfrm>
            <a:off x="904875" y="1190625"/>
            <a:ext cx="102870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1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The repository supports local Django development and includes Gunicorn-based deployment configuration.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="952500" y="2333625"/>
          <a:ext cx="10287000" cy="3238501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Area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Actual project configuration</a:t>
                      </a:r>
                    </a:p>
                  </a:txBody>
                  <a:tcPr>
                    <a:solidFill>
                      <a:srgbClr val="1F5D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Local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python manage.py runserver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Django entry points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aidex/wsgi.py and aidex/asgi.py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Environment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.env loaded through python-dotenv with .env.example as 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Database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SQLite by default, MySQL selected with DB_ENGINE=mysql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Static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WhiteNoise and collectstatic support for 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Hosting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12F"/>
                          </a:solidFill>
                          <a:latin typeface="Verdana"/>
                          <a:ea typeface="Verdana"/>
                          <a:cs typeface="Verdana"/>
                        </a:rPr>
                        <a:t>render.yaml uses Gunicorn with aidex.wsgi:application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2159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E3865D-23AF-4A20-8231-C8F50131E16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Advantages &amp; Limitations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35275716-86ED-4EA5-82B8-8E8D8786EE3D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CA132E-64C4-46DF-8651-F26BC2E11A2E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D9442F-B493-4BA1-AD8F-6E7CFE59683C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23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D22967-EC54-45C1-A773-D0E292CADADC}"/>
              </a:ext>
            </a:extLst>
          </p:cNvPr>
          <p:cNvSpPr>
            <a:spLocks noGrp="1"/>
          </p:cNvSpPr>
          <p:nvPr/>
        </p:nvSpPr>
        <p:spPr>
          <a:xfrm>
            <a:off x="857250" y="1190625"/>
            <a:ext cx="4286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21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Advantages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0BCFCF-2BB5-47E6-9A6B-A3DEDD33BC49}"/>
              </a:ext>
            </a:extLst>
          </p:cNvPr>
          <p:cNvSpPr>
            <a:spLocks noGrp="1"/>
          </p:cNvSpPr>
          <p:nvPr/>
        </p:nvSpPr>
        <p:spPr>
          <a:xfrm>
            <a:off x="952500" y="1695450"/>
            <a:ext cx="4667250" cy="2095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Central cyber-crime case workflow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Encrypted evidence with integrity checks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Role-based dashboards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Review history for AI and reports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AC3867-D0EC-46ED-A659-93E939D51A5A}"/>
              </a:ext>
            </a:extLst>
          </p:cNvPr>
          <p:cNvSpPr>
            <a:spLocks noGrp="1"/>
          </p:cNvSpPr>
          <p:nvPr/>
        </p:nvSpPr>
        <p:spPr>
          <a:xfrm>
            <a:off x="6572250" y="1190625"/>
            <a:ext cx="4286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A94442"/>
                </a:solidFill>
                <a:latin typeface="Verdana"/>
                <a:ea typeface="Verdana"/>
                <a:cs typeface="Verdana"/>
              </a:defRPr>
            </a:pPr>
            <a:r>
              <a:rPr sz="2100" b="1">
                <a:solidFill>
                  <a:srgbClr val="A94442"/>
                </a:solidFill>
                <a:latin typeface="Verdana"/>
                <a:ea typeface="Verdana"/>
                <a:cs typeface="Verdana"/>
              </a:rPr>
              <a:t>Current Limitations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92D2AF-899B-495D-AE66-89B130BC5B27}"/>
              </a:ext>
            </a:extLst>
          </p:cNvPr>
          <p:cNvSpPr>
            <a:spLocks noGrp="1"/>
          </p:cNvSpPr>
          <p:nvPr/>
        </p:nvSpPr>
        <p:spPr>
          <a:xfrm>
            <a:off x="6667500" y="1695450"/>
            <a:ext cx="4667250" cy="2238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Audio transcription is a placeholder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Heavy OCR runs synchronously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Production needs secrets and HTTPS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 dirty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Screenshots use demo data</a:t>
            </a:r>
          </a:p>
        </p:txBody>
      </p:sp>
    </p:spTree>
    <p:extLst>
      <p:ext uri="{BB962C8B-B14F-4D97-AF65-F5344CB8AC3E}">
        <p14:creationId xmlns:p14="http://schemas.microsoft.com/office/powerpoint/2010/main" val="1496548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F44E811-89A4-489B-88DF-5E45D5B9F5F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Future Scope &amp; Conclusion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8C49B8B-1E2C-4F24-B39A-A23F28E3B722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92E7B3-C208-45EC-90B7-394751CD313B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3F90FD-6151-4F43-8AFB-2AA979C6043B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24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B65D4D-3E29-427E-89ED-662632CE10BB}"/>
              </a:ext>
            </a:extLst>
          </p:cNvPr>
          <p:cNvSpPr>
            <a:spLocks noGrp="1"/>
          </p:cNvSpPr>
          <p:nvPr/>
        </p:nvSpPr>
        <p:spPr>
          <a:xfrm>
            <a:off x="809625" y="1190625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178277"/>
                </a:solidFill>
                <a:latin typeface="Verdana"/>
                <a:ea typeface="Verdana"/>
                <a:cs typeface="Verdana"/>
              </a:defRPr>
            </a:pPr>
            <a:r>
              <a:rPr sz="2100" b="1">
                <a:solidFill>
                  <a:srgbClr val="178277"/>
                </a:solidFill>
                <a:latin typeface="Verdana"/>
                <a:ea typeface="Verdana"/>
                <a:cs typeface="Verdana"/>
              </a:rPr>
              <a:t>Future Scope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EF555B-3F23-4804-99EE-A8EADA631D70}"/>
              </a:ext>
            </a:extLst>
          </p:cNvPr>
          <p:cNvSpPr>
            <a:spLocks noGrp="1"/>
          </p:cNvSpPr>
          <p:nvPr/>
        </p:nvSpPr>
        <p:spPr>
          <a:xfrm>
            <a:off x="904875" y="1695450"/>
            <a:ext cx="4953000" cy="2476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Add background workers for OCR and video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Configure speech-to-text for audio evidence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Extend report export automation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• Add monitoring and audit dashboards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7F8D98-D3F6-4E46-9552-E0A0DD342A96}"/>
              </a:ext>
            </a:extLst>
          </p:cNvPr>
          <p:cNvSpPr>
            <a:spLocks noGrp="1"/>
          </p:cNvSpPr>
          <p:nvPr/>
        </p:nvSpPr>
        <p:spPr>
          <a:xfrm>
            <a:off x="6715125" y="1190625"/>
            <a:ext cx="4095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21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Conclusion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EB92A5-2A2C-45C1-88AA-A7CA46E69047}"/>
              </a:ext>
            </a:extLst>
          </p:cNvPr>
          <p:cNvSpPr>
            <a:spLocks noGrp="1"/>
          </p:cNvSpPr>
          <p:nvPr/>
        </p:nvSpPr>
        <p:spPr>
          <a:xfrm>
            <a:off x="6715125" y="1762125"/>
            <a:ext cx="4191000" cy="2333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195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AIDEX delivers a working Django system for cyber-crime investigation, secure evidence handling, AI-assisted analysis and controlled reporting.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AAC7E9-6A00-4659-9656-48C4878E09D0}"/>
              </a:ext>
            </a:extLst>
          </p:cNvPr>
          <p:cNvSpPr>
            <a:spLocks noGrp="1"/>
          </p:cNvSpPr>
          <p:nvPr/>
        </p:nvSpPr>
        <p:spPr>
          <a:xfrm>
            <a:off x="1666875" y="5286375"/>
            <a:ext cx="8858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Future items are improvements only, not implemented features.</a:t>
            </a:r>
          </a:p>
        </p:txBody>
      </p:sp>
    </p:spTree>
    <p:extLst>
      <p:ext uri="{BB962C8B-B14F-4D97-AF65-F5344CB8AC3E}">
        <p14:creationId xmlns:p14="http://schemas.microsoft.com/office/powerpoint/2010/main" val="882588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CFBD176-693F-4F74-96F4-ED18508F2DE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00" b="1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Thank You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FE62B42E-1EB6-4B25-A3D0-F8D3E0EC8294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38225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CF2BD0-B43C-4547-8746-97C651D1D32B}"/>
              </a:ext>
            </a:extLst>
          </p:cNvPr>
          <p:cNvSpPr>
            <a:spLocks noGrp="1"/>
          </p:cNvSpPr>
          <p:nvPr/>
        </p:nvSpPr>
        <p:spPr>
          <a:xfrm>
            <a:off x="10191750" y="361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0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09678C-FBB8-49D6-ABA1-7203A647DB6C}"/>
              </a:ext>
            </a:extLst>
          </p:cNvPr>
          <p:cNvSpPr>
            <a:spLocks noGrp="1"/>
          </p:cNvSpPr>
          <p:nvPr/>
        </p:nvSpPr>
        <p:spPr>
          <a:xfrm>
            <a:off x="11315700" y="3619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35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25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650375-2DCB-4727-9F61-5B819BA3E9C5}"/>
              </a:ext>
            </a:extLst>
          </p:cNvPr>
          <p:cNvSpPr>
            <a:spLocks noGrp="1"/>
          </p:cNvSpPr>
          <p:nvPr/>
        </p:nvSpPr>
        <p:spPr>
          <a:xfrm>
            <a:off x="3714750" y="1619250"/>
            <a:ext cx="4762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4350" b="1">
                <a:solidFill>
                  <a:srgbClr val="1F5D8C"/>
                </a:solidFill>
                <a:latin typeface="Verdana"/>
                <a:ea typeface="Verdana"/>
                <a:cs typeface="Verdana"/>
              </a:defRPr>
            </a:pPr>
            <a:r>
              <a:rPr sz="4350" b="1">
                <a:solidFill>
                  <a:srgbClr val="1F5D8C"/>
                </a:solidFill>
                <a:latin typeface="Verdana"/>
                <a:ea typeface="Verdana"/>
                <a:cs typeface="Verdana"/>
              </a:rPr>
              <a:t>AIDEX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D7B804-F85E-461C-B4D9-92B5263075CF}"/>
              </a:ext>
            </a:extLst>
          </p:cNvPr>
          <p:cNvSpPr>
            <a:spLocks noGrp="1"/>
          </p:cNvSpPr>
          <p:nvPr/>
        </p:nvSpPr>
        <p:spPr>
          <a:xfrm>
            <a:off x="2095500" y="2524125"/>
            <a:ext cx="8001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18212F"/>
                </a:solidFill>
                <a:latin typeface="Verdana"/>
                <a:ea typeface="Verdana"/>
                <a:cs typeface="Verdana"/>
              </a:defRPr>
            </a:pPr>
            <a:r>
              <a:rPr sz="2100" b="0">
                <a:solidFill>
                  <a:srgbClr val="18212F"/>
                </a:solidFill>
                <a:latin typeface="Verdana"/>
                <a:ea typeface="Verdana"/>
                <a:cs typeface="Verdana"/>
              </a:rPr>
              <a:t>AI Digital Evidence Intelligence &amp; Investigation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7A2E60-EF7A-41C1-91F9-AD61523D3BD4}"/>
              </a:ext>
            </a:extLst>
          </p:cNvPr>
          <p:cNvSpPr>
            <a:spLocks noGrp="1"/>
          </p:cNvSpPr>
          <p:nvPr/>
        </p:nvSpPr>
        <p:spPr>
          <a:xfrm>
            <a:off x="3429000" y="3714750"/>
            <a:ext cx="5334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700" b="1">
                <a:solidFill>
                  <a:srgbClr val="178277"/>
                </a:solidFill>
                <a:latin typeface="Verdana"/>
                <a:ea typeface="Verdana"/>
                <a:cs typeface="Verdana"/>
              </a:defRPr>
            </a:pPr>
            <a:r>
              <a:rPr sz="2700" b="1">
                <a:solidFill>
                  <a:srgbClr val="178277"/>
                </a:solidFill>
                <a:latin typeface="Verdana"/>
                <a:ea typeface="Verdana"/>
                <a:cs typeface="Verdana"/>
              </a:rPr>
              <a:t>Questions &amp; Answers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8EF645-DB75-4334-BA51-7FFDBEBBA9ED}"/>
              </a:ext>
            </a:extLst>
          </p:cNvPr>
          <p:cNvSpPr>
            <a:spLocks noGrp="1"/>
          </p:cNvSpPr>
          <p:nvPr/>
        </p:nvSpPr>
        <p:spPr>
          <a:xfrm>
            <a:off x="2381250" y="5095875"/>
            <a:ext cx="7429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0">
                <a:solidFill>
                  <a:srgbClr val="5A6575"/>
                </a:solidFill>
                <a:latin typeface="Verdana"/>
                <a:ea typeface="Verdana"/>
                <a:cs typeface="Verdana"/>
              </a:defRPr>
            </a:pPr>
            <a:r>
              <a:rPr sz="1500" b="0">
                <a:solidFill>
                  <a:srgbClr val="5A6575"/>
                </a:solidFill>
                <a:latin typeface="Verdana"/>
                <a:ea typeface="Verdana"/>
                <a:cs typeface="Verdana"/>
              </a:rPr>
              <a:t>Team: Saksham Patel, Harsh, Shrushti, Amisha, Viral</a:t>
            </a:r>
          </a:p>
        </p:txBody>
      </p:sp>
    </p:spTree>
    <p:extLst>
      <p:ext uri="{BB962C8B-B14F-4D97-AF65-F5344CB8AC3E}">
        <p14:creationId xmlns:p14="http://schemas.microsoft.com/office/powerpoint/2010/main" val="34598065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2083</Words>
  <Application>Microsoft Office PowerPoint</Application>
  <DocSecurity>0</DocSecurity>
  <PresentationFormat>Widescreen</PresentationFormat>
  <Paragraphs>345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Calibri</vt:lpstr>
      <vt:lpstr>Verdana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saksham patel</cp:lastModifiedBy>
  <cp:revision>1</cp:revision>
  <dcterms:created xsi:type="dcterms:W3CDTF">2026-09-14T09:55:01Z</dcterms:created>
  <dcterms:modified xsi:type="dcterms:W3CDTF">2026-09-14T10:09:32Z</dcterms:modified>
</cp:coreProperties>
</file>